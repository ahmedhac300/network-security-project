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Bitter Medium"/>
      <p:regular r:id="rId201314"/>
    </p:embeddedFont>
    <p:embeddedFont>
      <p:font typeface="Open Sans Bold"/>
      <p:regular r:id="rId201315"/>
    </p:embeddedFont>
    <p:embeddedFont>
      <p:font typeface="Open Sans"/>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AABCB6"/>
          </a:solidFill>
          <a:ln/>
        </p:spPr>
      </p:sp>
      <p:sp>
        <p:nvSpPr>
          <p:cNvPr id="3" name="Shape 1"/>
          <p:cNvSpPr/>
          <p:nvPr/>
        </p:nvSpPr>
        <p:spPr>
          <a:xfrm>
            <a:off x="0" y="0"/>
            <a:ext cx="12191695" cy="6858000"/>
          </a:xfrm>
          <a:prstGeom prst="rect">
            <a:avLst/>
          </a:prstGeom>
          <a:solidFill>
            <a:srgbClr val="FFF8F0"/>
          </a:solidFill>
          <a:ln/>
        </p:spPr>
      </p:sp>
      <p:pic>
        <p:nvPicPr>
          <p:cNvPr id="4"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229420"/>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spc="-112" kern="0" dirty="0">
                <a:solidFill>
                  <a:srgbClr val="2C3F42"/>
                </a:solidFill>
                <a:latin typeface="Bitter Medium" pitchFamily="34" charset="0"/>
                <a:ea typeface="Bitter Medium" pitchFamily="34" charset="-122"/>
                <a:cs typeface="Bitter Medium" pitchFamily="34" charset="-120"/>
              </a:rPr>
              <a:t>Network Security Project Documentation</a:t>
            </a:r>
            <a:endParaRPr lang="en-US" sz="3700" dirty="0"/>
          </a:p>
        </p:txBody>
      </p:sp>
      <p:sp>
        <p:nvSpPr>
          <p:cNvPr id="4" name="Text 1"/>
          <p:cNvSpPr/>
          <p:nvPr/>
        </p:nvSpPr>
        <p:spPr>
          <a:xfrm>
            <a:off x="5233360" y="2694186"/>
            <a:ext cx="6296860" cy="2934395"/>
          </a:xfrm>
          <a:prstGeom prst="rect">
            <a:avLst/>
          </a:prstGeom>
          <a:noFill/>
          <a:ln/>
        </p:spPr>
        <p:txBody>
          <a:bodyPr wrap="square" lIns="0" tIns="0" rIns="0" bIns="0" rtlCol="0" anchor="t">
            <a:normAutofit/>
          </a:bodyPr>
          <a:lstStyle/>
          <a:p>
            <a:pPr algn="l" indent="0" marL="0">
              <a:lnSpc>
                <a:spcPct val="133000"/>
              </a:lnSpc>
              <a:spcAft>
                <a:spcPts val="1650"/>
              </a:spcAft>
              <a:buNone/>
            </a:pPr>
            <a:r>
              <a:rPr lang="en-US" sz="1450" spc="-30" kern="0" dirty="0">
                <a:solidFill>
                  <a:srgbClr val="2B2E3C"/>
                </a:solidFill>
                <a:latin typeface="Open Sans" pitchFamily="34" charset="0"/>
                <a:ea typeface="Open Sans" pitchFamily="34" charset="-122"/>
                <a:cs typeface="Open Sans" pitchFamily="34" charset="-120"/>
              </a:rPr>
              <a:t>This document outlines the implementation of a secure network infrastructure designed and simulated using Cisco Packet Tracer. The project focuses on establishing a robust, multi-layered security framework across seven distinct zones.</a:t>
            </a:r>
            <a:endParaRPr lang="en-US" sz="1450" dirty="0"/>
          </a:p>
          <a:p>
            <a:pPr algn="l" indent="0" marL="0">
              <a:lnSpc>
                <a:spcPct val="133000"/>
              </a:lnSpc>
              <a:buNone/>
            </a:pPr>
            <a:r>
              <a:rPr lang="en-US" sz="1450" spc="-30" kern="0" dirty="0">
                <a:solidFill>
                  <a:srgbClr val="2B2E3C"/>
                </a:solidFill>
                <a:latin typeface="Open Sans" pitchFamily="34" charset="0"/>
                <a:ea typeface="Open Sans" pitchFamily="34" charset="-122"/>
                <a:cs typeface="Open Sans" pitchFamily="34" charset="-120"/>
              </a:rPr>
              <a:t>Each zone integrates both logical and physical security measures, including webcams, alarms, trip sensors, and motion sensors. To further enhance security, all unused switch and router ports were administratively disabled, and any unused physical slots on servers were sealed with covers.</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570309"/>
            <a:ext cx="10868745" cy="179884"/>
          </a:xfrm>
          <a:prstGeom prst="rect">
            <a:avLst/>
          </a:prstGeom>
          <a:noFill/>
          <a:ln/>
        </p:spPr>
        <p:txBody>
          <a:bodyPr wrap="none" lIns="0" tIns="0" rIns="0" bIns="0" rtlCol="0" anchor="t"/>
          <a:lstStyle/>
          <a:p>
            <a:pPr algn="l" indent="0" marL="0">
              <a:lnSpc>
                <a:spcPct val="104000"/>
              </a:lnSpc>
              <a:buNone/>
            </a:pPr>
            <a:r>
              <a:rPr lang="en-US" sz="1100" spc="-34" kern="0" dirty="0">
                <a:solidFill>
                  <a:srgbClr val="2C3F42"/>
                </a:solidFill>
                <a:latin typeface="Bitter Medium" pitchFamily="34" charset="0"/>
                <a:ea typeface="Bitter Medium" pitchFamily="34" charset="-122"/>
                <a:cs typeface="Bitter Medium" pitchFamily="34" charset="-120"/>
              </a:rPr>
              <a:t>Section 2</a:t>
            </a:r>
            <a:endParaRPr lang="en-US" sz="1100" dirty="0"/>
          </a:p>
        </p:txBody>
      </p:sp>
      <p:sp>
        <p:nvSpPr>
          <p:cNvPr id="3" name="Text 1"/>
          <p:cNvSpPr/>
          <p:nvPr/>
        </p:nvSpPr>
        <p:spPr>
          <a:xfrm>
            <a:off x="661475" y="778173"/>
            <a:ext cx="10868745" cy="359866"/>
          </a:xfrm>
          <a:prstGeom prst="rect">
            <a:avLst/>
          </a:prstGeom>
          <a:noFill/>
          <a:ln/>
        </p:spPr>
        <p:txBody>
          <a:bodyPr wrap="none" lIns="0" tIns="0" rIns="0" bIns="0" rtlCol="0" anchor="t"/>
          <a:lstStyle/>
          <a:p>
            <a:pPr algn="l" indent="0" marL="0">
              <a:lnSpc>
                <a:spcPct val="104000"/>
              </a:lnSpc>
              <a:buNone/>
            </a:pPr>
            <a:r>
              <a:rPr lang="en-US" sz="2250" spc="-68" kern="0" dirty="0">
                <a:solidFill>
                  <a:srgbClr val="2C3F42"/>
                </a:solidFill>
                <a:latin typeface="Bitter Medium" pitchFamily="34" charset="0"/>
                <a:ea typeface="Bitter Medium" pitchFamily="34" charset="-122"/>
                <a:cs typeface="Bitter Medium" pitchFamily="34" charset="-120"/>
              </a:rPr>
              <a:t>Subnetting Table: Detailed Allocation</a:t>
            </a:r>
            <a:endParaRPr lang="en-US" sz="2250" dirty="0"/>
          </a:p>
        </p:txBody>
      </p:sp>
      <p:sp>
        <p:nvSpPr>
          <p:cNvPr id="4" name="Text 2"/>
          <p:cNvSpPr/>
          <p:nvPr/>
        </p:nvSpPr>
        <p:spPr>
          <a:xfrm>
            <a:off x="661475" y="1243310"/>
            <a:ext cx="10868745" cy="296466"/>
          </a:xfrm>
          <a:prstGeom prst="rect">
            <a:avLst/>
          </a:prstGeom>
          <a:noFill/>
          <a:ln/>
        </p:spPr>
        <p:txBody>
          <a:bodyPr wrap="square" lIns="0" tIns="0" rIns="0" bIns="0" rtlCol="0" anchor="t">
            <a:normAutofit/>
          </a:bodyPr>
          <a:lstStyle/>
          <a:p>
            <a:pPr algn="l" indent="0" marL="0">
              <a:lnSpc>
                <a:spcPct val="107000"/>
              </a:lnSpc>
              <a:buNone/>
            </a:pPr>
            <a:r>
              <a:rPr lang="en-US" sz="900" spc="-18" kern="0" dirty="0">
                <a:solidFill>
                  <a:srgbClr val="2B2E3C"/>
                </a:solidFill>
                <a:latin typeface="Open Sans" pitchFamily="34" charset="0"/>
                <a:ea typeface="Open Sans" pitchFamily="34" charset="-122"/>
                <a:cs typeface="Open Sans" pitchFamily="34" charset="-120"/>
              </a:rPr>
              <a:t>The network design employs a meticulously planned subnetting scheme to optimize IP address utilization and segment the network for enhanced security and management. Each zone and inter-router link has a dedicated subnet, ensuring clear logical separation.</a:t>
            </a:r>
            <a:endParaRPr lang="en-US" sz="9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61475" y="1618655"/>
          <a:ext cx="9143771" cy="914400"/>
        </p:xfrm>
        <a:graphic>
          <a:graphicData uri="http://schemas.openxmlformats.org/drawingml/2006/table">
            <a:tbl>
              <a:tblPr/>
              <a:tblGrid>
                <a:gridCol w="2717186"/>
                <a:gridCol w="1810733"/>
                <a:gridCol w="2717186"/>
                <a:gridCol w="3623640"/>
              </a:tblGrid>
              <a:tr h="245064">
                <a:tc>
                  <a:txBody>
                    <a:bodyPr/>
                    <a:lstStyle/>
                    <a:p>
                      <a:pPr algn="l" indent="0" marL="0">
                        <a:buNone/>
                      </a:pPr>
                      <a:r>
                        <a:rPr lang="en-US" sz="900" b="1" spc="-18" kern="0" dirty="0">
                          <a:solidFill>
                            <a:srgbClr val="2B2E3C"/>
                          </a:solidFill>
                          <a:latin typeface="Open Sans" pitchFamily="34" charset="0"/>
                          <a:ea typeface="Open Sans" pitchFamily="34" charset="-122"/>
                          <a:cs typeface="Open Sans" pitchFamily="34" charset="-120"/>
                        </a:rPr>
                        <a:t>Subnet Area</a:t>
                      </a:r>
                      <a:endParaRPr lang="en-US" sz="900" dirty="0">
                        <a:latin typeface="Open Sans" charset="0"/>
                        <a:ea typeface="Open Sans" charset="0"/>
                        <a:cs typeface="Open Sans" charset="0"/>
                      </a:endParaRPr>
                    </a:p>
                  </a:txBody>
                  <a:tcPr marL="115183" marR="115183" marT="6350" marB="6350" anchor="ctr">
                    <a:lnL w="12700" cap="flat" cmpd="sng" algn="ctr">
                      <a:solidFill>
                        <a:srgbClr val="E2C8B5"/>
                      </a:solidFill>
                      <a:prstDash val="solid"/>
                      <a:round/>
                      <a:headEnd type="none" w="med" len="med"/>
                      <a:tailEnd type="none" w="med" len="med"/>
                    </a:lnL>
                    <a:lnR w="12700" cap="flat" cmpd="sng" algn="ctr">
                      <a:solidFill>
                        <a:srgbClr val="FFF8F1"/>
                      </a:solidFill>
                      <a:prstDash val="solid"/>
                      <a:round/>
                      <a:headEnd type="none" w="med" len="med"/>
                      <a:tailEnd type="none" w="med" len="med"/>
                    </a:lnR>
                    <a:lnT w="12700" cap="flat" cmpd="sng" algn="ctr">
                      <a:solidFill>
                        <a:srgbClr val="E2C8B5"/>
                      </a:solidFill>
                      <a:prstDash val="solid"/>
                      <a:round/>
                      <a:headEnd type="none" w="med" len="med"/>
                      <a:tailEnd type="none" w="med" len="med"/>
                    </a:lnT>
                    <a:lnB w="12700" cap="flat" cmpd="sng" algn="ctr">
                      <a:solidFill>
                        <a:srgbClr val="FFF8F1"/>
                      </a:solidFill>
                      <a:prstDash val="solid"/>
                      <a:round/>
                      <a:headEnd type="none" w="med" len="med"/>
                      <a:tailEnd type="none" w="med" len="med"/>
                    </a:lnB>
                    <a:solidFill>
                      <a:srgbClr val="FFFFFF">
                        <a:alpha val="4000"/>
                      </a:srgbClr>
                    </a:solidFill>
                  </a:tcPr>
                </a:tc>
                <a:tc>
                  <a:txBody>
                    <a:bodyPr/>
                    <a:lstStyle/>
                    <a:p>
                      <a:pPr algn="l" indent="0" marL="0">
                        <a:buNone/>
                      </a:pPr>
                      <a:r>
                        <a:rPr lang="en-US" sz="900" b="1" spc="-18" kern="0" dirty="0">
                          <a:solidFill>
                            <a:srgbClr val="2B2E3C"/>
                          </a:solidFill>
                          <a:latin typeface="Open Sans" pitchFamily="34" charset="0"/>
                          <a:ea typeface="Open Sans" pitchFamily="34" charset="-122"/>
                          <a:cs typeface="Open Sans" pitchFamily="34" charset="-120"/>
                        </a:rPr>
                        <a:t>Hosts</a:t>
                      </a:r>
                      <a:endParaRPr lang="en-US" sz="900" dirty="0">
                        <a:latin typeface="Open Sans" charset="0"/>
                        <a:ea typeface="Open Sans" charset="0"/>
                        <a:cs typeface="Open Sans" charset="0"/>
                      </a:endParaRPr>
                    </a:p>
                  </a:txBody>
                  <a:tcPr marL="115183" marR="115183" marT="6350" marB="6350" anchor="ctr">
                    <a:lnL w="12700" cap="flat" cmpd="sng" algn="ctr">
                      <a:solidFill>
                        <a:srgbClr val="FFF8F1"/>
                      </a:solidFill>
                      <a:prstDash val="solid"/>
                      <a:round/>
                      <a:headEnd type="none" w="med" len="med"/>
                      <a:tailEnd type="none" w="med" len="med"/>
                    </a:lnL>
                    <a:lnR w="12700" cap="flat" cmpd="sng" algn="ctr">
                      <a:solidFill>
                        <a:srgbClr val="FFF8F1"/>
                      </a:solidFill>
                      <a:prstDash val="solid"/>
                      <a:round/>
                      <a:headEnd type="none" w="med" len="med"/>
                      <a:tailEnd type="none" w="med" len="med"/>
                    </a:lnR>
                    <a:lnT w="12700" cap="flat" cmpd="sng" algn="ctr">
                      <a:solidFill>
                        <a:srgbClr val="E2C8B5"/>
                      </a:solidFill>
                      <a:prstDash val="solid"/>
                      <a:round/>
                      <a:headEnd type="none" w="med" len="med"/>
                      <a:tailEnd type="none" w="med" len="med"/>
                    </a:lnT>
                    <a:lnB w="12700" cap="flat" cmpd="sng" algn="ctr">
                      <a:solidFill>
                        <a:srgbClr val="FFF8F1"/>
                      </a:solidFill>
                      <a:prstDash val="solid"/>
                      <a:round/>
                      <a:headEnd type="none" w="med" len="med"/>
                      <a:tailEnd type="none" w="med" len="med"/>
                    </a:lnB>
                    <a:solidFill>
                      <a:srgbClr val="FFFFFF">
                        <a:alpha val="4000"/>
                      </a:srgbClr>
                    </a:solidFill>
                  </a:tcPr>
                </a:tc>
                <a:tc>
                  <a:txBody>
                    <a:bodyPr/>
                    <a:lstStyle/>
                    <a:p>
                      <a:pPr algn="l" indent="0" marL="0">
                        <a:buNone/>
                      </a:pPr>
                      <a:r>
                        <a:rPr lang="en-US" sz="900" b="1" spc="-18" kern="0" dirty="0">
                          <a:solidFill>
                            <a:srgbClr val="2B2E3C"/>
                          </a:solidFill>
                          <a:latin typeface="Open Sans" pitchFamily="34" charset="0"/>
                          <a:ea typeface="Open Sans" pitchFamily="34" charset="-122"/>
                          <a:cs typeface="Open Sans" pitchFamily="34" charset="-120"/>
                        </a:rPr>
                        <a:t>CIDR</a:t>
                      </a:r>
                      <a:endParaRPr lang="en-US" sz="900" dirty="0">
                        <a:latin typeface="Open Sans" charset="0"/>
                        <a:ea typeface="Open Sans" charset="0"/>
                        <a:cs typeface="Open Sans" charset="0"/>
                      </a:endParaRPr>
                    </a:p>
                  </a:txBody>
                  <a:tcPr marL="115183" marR="115183" marT="6350" marB="6350" anchor="ctr">
                    <a:lnL w="12700" cap="flat" cmpd="sng" algn="ctr">
                      <a:solidFill>
                        <a:srgbClr val="FFF8F1"/>
                      </a:solidFill>
                      <a:prstDash val="solid"/>
                      <a:round/>
                      <a:headEnd type="none" w="med" len="med"/>
                      <a:tailEnd type="none" w="med" len="med"/>
                    </a:lnL>
                    <a:lnR w="12700" cap="flat" cmpd="sng" algn="ctr">
                      <a:solidFill>
                        <a:srgbClr val="FFF8F1"/>
                      </a:solidFill>
                      <a:prstDash val="solid"/>
                      <a:round/>
                      <a:headEnd type="none" w="med" len="med"/>
                      <a:tailEnd type="none" w="med" len="med"/>
                    </a:lnR>
                    <a:lnT w="12700" cap="flat" cmpd="sng" algn="ctr">
                      <a:solidFill>
                        <a:srgbClr val="E2C8B5"/>
                      </a:solidFill>
                      <a:prstDash val="solid"/>
                      <a:round/>
                      <a:headEnd type="none" w="med" len="med"/>
                      <a:tailEnd type="none" w="med" len="med"/>
                    </a:lnT>
                    <a:lnB w="12700" cap="flat" cmpd="sng" algn="ctr">
                      <a:solidFill>
                        <a:srgbClr val="FFF8F1"/>
                      </a:solidFill>
                      <a:prstDash val="solid"/>
                      <a:round/>
                      <a:headEnd type="none" w="med" len="med"/>
                      <a:tailEnd type="none" w="med" len="med"/>
                    </a:lnB>
                    <a:solidFill>
                      <a:srgbClr val="FFFFFF">
                        <a:alpha val="4000"/>
                      </a:srgbClr>
                    </a:solidFill>
                  </a:tcPr>
                </a:tc>
                <a:tc>
                  <a:txBody>
                    <a:bodyPr/>
                    <a:lstStyle/>
                    <a:p>
                      <a:pPr algn="l" indent="0" marL="0">
                        <a:buNone/>
                      </a:pPr>
                      <a:r>
                        <a:rPr lang="en-US" sz="900" b="1" spc="-18" kern="0" dirty="0">
                          <a:solidFill>
                            <a:srgbClr val="2B2E3C"/>
                          </a:solidFill>
                          <a:latin typeface="Open Sans" pitchFamily="34" charset="0"/>
                          <a:ea typeface="Open Sans" pitchFamily="34" charset="-122"/>
                          <a:cs typeface="Open Sans" pitchFamily="34" charset="-120"/>
                        </a:rPr>
                        <a:t>Network Address</a:t>
                      </a:r>
                      <a:endParaRPr lang="en-US" sz="900" dirty="0">
                        <a:latin typeface="Open Sans" charset="0"/>
                        <a:ea typeface="Open Sans" charset="0"/>
                        <a:cs typeface="Open Sans" charset="0"/>
                      </a:endParaRPr>
                    </a:p>
                  </a:txBody>
                  <a:tcPr marL="115183" marR="115183" marT="6350" marB="6350" anchor="ctr">
                    <a:lnL w="12700" cap="flat" cmpd="sng" algn="ctr">
                      <a:solidFill>
                        <a:srgbClr val="FFF8F1"/>
                      </a:solidFill>
                      <a:prstDash val="solid"/>
                      <a:round/>
                      <a:headEnd type="none" w="med" len="med"/>
                      <a:tailEnd type="none" w="med" len="med"/>
                    </a:lnL>
                    <a:lnR w="12700" cap="flat" cmpd="sng" algn="ctr">
                      <a:solidFill>
                        <a:srgbClr val="E2C8B5"/>
                      </a:solidFill>
                      <a:prstDash val="solid"/>
                      <a:round/>
                      <a:headEnd type="none" w="med" len="med"/>
                      <a:tailEnd type="none" w="med" len="med"/>
                    </a:lnR>
                    <a:lnT w="12700" cap="flat" cmpd="sng" algn="ctr">
                      <a:solidFill>
                        <a:srgbClr val="E2C8B5"/>
                      </a:solidFill>
                      <a:prstDash val="solid"/>
                      <a:round/>
                      <a:headEnd type="none" w="med" len="med"/>
                      <a:tailEnd type="none" w="med" len="med"/>
                    </a:lnT>
                    <a:lnB w="12700" cap="flat" cmpd="sng" algn="ctr">
                      <a:solidFill>
                        <a:srgbClr val="FFF8F1"/>
                      </a:solidFill>
                      <a:prstDash val="solid"/>
                      <a:round/>
                      <a:headEnd type="none" w="med" len="med"/>
                      <a:tailEnd type="none" w="med" len="med"/>
                    </a:lnB>
                    <a:solidFill>
                      <a:srgbClr val="FFFFFF">
                        <a:alpha val="4000"/>
                      </a:srgbClr>
                    </a:solidFill>
                  </a:tcPr>
                </a:tc>
              </a:tr>
              <a:tr h="245064">
                <a:tc>
                  <a:txBody>
                    <a:bodyPr/>
                    <a:lstStyle/>
                    <a:p>
                      <a:pPr algn="l" indent="0" marL="0">
                        <a:buNone/>
                      </a:pPr>
                      <a:r>
                        <a:rPr lang="en-US" sz="900" spc="-18" kern="0" dirty="0">
                          <a:solidFill>
                            <a:srgbClr val="2B2E3C"/>
                          </a:solidFill>
                          <a:latin typeface="Open Sans" pitchFamily="34" charset="0"/>
                          <a:ea typeface="Open Sans" pitchFamily="34" charset="-122"/>
                          <a:cs typeface="Open Sans" pitchFamily="34" charset="-120"/>
                        </a:rPr>
                        <a:t>ACL</a:t>
                      </a:r>
                      <a:endParaRPr lang="en-US" sz="900" dirty="0">
                        <a:latin typeface="Open Sans" charset="0"/>
                        <a:ea typeface="Open Sans" charset="0"/>
                        <a:cs typeface="Open Sans" charset="0"/>
                      </a:endParaRPr>
                    </a:p>
                  </a:txBody>
                  <a:tcPr marL="115183" marR="115183" marT="6350" marB="6350" anchor="ctr">
                    <a:lnL w="12700" cap="flat" cmpd="sng" algn="ctr">
                      <a:solidFill>
                        <a:srgbClr val="E2C8B5"/>
                      </a:solidFill>
                      <a:prstDash val="solid"/>
                      <a:round/>
                      <a:headEnd type="none" w="med" len="med"/>
                      <a:tailEnd type="none" w="med" len="med"/>
                    </a:lnL>
                    <a:lnR w="12700" cap="flat" cmpd="sng" algn="ctr">
                      <a:solidFill>
                        <a:srgbClr val="F5EEE6"/>
                      </a:solidFill>
                      <a:prstDash val="solid"/>
                      <a:round/>
                      <a:headEnd type="none" w="med" len="med"/>
                      <a:tailEnd type="none" w="med" len="med"/>
                    </a:lnR>
                    <a:lnT w="12700" cap="flat" cmpd="sng" algn="ctr">
                      <a:solidFill>
                        <a:srgbClr val="F5EEE6"/>
                      </a:solidFill>
                      <a:prstDash val="solid"/>
                      <a:round/>
                      <a:headEnd type="none" w="med" len="med"/>
                      <a:tailEnd type="none" w="med" len="med"/>
                    </a:lnT>
                    <a:lnB w="12700" cap="flat" cmpd="sng" algn="ctr">
                      <a:solidFill>
                        <a:srgbClr val="F5EEE6"/>
                      </a:solidFill>
                      <a:prstDash val="solid"/>
                      <a:round/>
                      <a:headEnd type="none" w="med" len="med"/>
                      <a:tailEnd type="none" w="med" len="med"/>
                    </a:lnB>
                    <a:solidFill>
                      <a:srgbClr val="000000">
                        <a:alpha val="4000"/>
                      </a:srgbClr>
                    </a:solidFill>
                  </a:tcPr>
                </a:tc>
                <a:tc>
                  <a:txBody>
                    <a:bodyPr/>
                    <a:lstStyle/>
                    <a:p>
                      <a:pPr algn="l" indent="0" marL="0">
                        <a:buNone/>
                      </a:pPr>
                      <a:r>
                        <a:rPr lang="en-US" sz="900" spc="-18" kern="0" dirty="0">
                          <a:solidFill>
                            <a:srgbClr val="2B2E3C"/>
                          </a:solidFill>
                          <a:latin typeface="Open Sans" pitchFamily="34" charset="0"/>
                          <a:ea typeface="Open Sans" pitchFamily="34" charset="-122"/>
                          <a:cs typeface="Open Sans" pitchFamily="34" charset="-120"/>
                        </a:rPr>
                        <a:t>8</a:t>
                      </a:r>
                      <a:endParaRPr lang="en-US" sz="900" dirty="0">
                        <a:latin typeface="Open Sans" charset="0"/>
                        <a:ea typeface="Open Sans" charset="0"/>
                        <a:cs typeface="Open Sans" charset="0"/>
                      </a:endParaRPr>
                    </a:p>
                  </a:txBody>
                  <a:tcPr marL="115183" marR="115183" marT="6350" marB="6350" anchor="ctr">
                    <a:lnL w="12700" cap="flat" cmpd="sng" algn="ctr">
                      <a:solidFill>
                        <a:srgbClr val="F5EEE6"/>
                      </a:solidFill>
                      <a:prstDash val="solid"/>
                      <a:round/>
                      <a:headEnd type="none" w="med" len="med"/>
                      <a:tailEnd type="none" w="med" len="med"/>
                    </a:lnL>
                    <a:lnR w="12700" cap="flat" cmpd="sng" algn="ctr">
                      <a:solidFill>
                        <a:srgbClr val="F5EEE6"/>
                      </a:solidFill>
                      <a:prstDash val="solid"/>
                      <a:round/>
                      <a:headEnd type="none" w="med" len="med"/>
                      <a:tailEnd type="none" w="med" len="med"/>
                    </a:lnR>
                    <a:lnT w="12700" cap="flat" cmpd="sng" algn="ctr">
                      <a:solidFill>
                        <a:srgbClr val="F5EEE6"/>
                      </a:solidFill>
                      <a:prstDash val="solid"/>
                      <a:round/>
                      <a:headEnd type="none" w="med" len="med"/>
                      <a:tailEnd type="none" w="med" len="med"/>
                    </a:lnT>
                    <a:lnB w="12700" cap="flat" cmpd="sng" algn="ctr">
                      <a:solidFill>
                        <a:srgbClr val="F5EEE6"/>
                      </a:solidFill>
                      <a:prstDash val="solid"/>
                      <a:round/>
                      <a:headEnd type="none" w="med" len="med"/>
                      <a:tailEnd type="none" w="med" len="med"/>
                    </a:lnB>
                    <a:solidFill>
                      <a:srgbClr val="000000">
                        <a:alpha val="4000"/>
                      </a:srgbClr>
                    </a:solidFill>
                  </a:tcPr>
                </a:tc>
                <a:tc>
                  <a:txBody>
                    <a:bodyPr/>
                    <a:lstStyle/>
                    <a:p>
                      <a:pPr algn="l" indent="0" marL="0">
                        <a:buNone/>
                      </a:pPr>
                      <a:r>
                        <a:rPr lang="en-US" sz="900" spc="-18" kern="0" dirty="0">
                          <a:solidFill>
                            <a:srgbClr val="2B2E3C"/>
                          </a:solidFill>
                          <a:latin typeface="Open Sans" pitchFamily="34" charset="0"/>
                          <a:ea typeface="Open Sans" pitchFamily="34" charset="-122"/>
                          <a:cs typeface="Open Sans" pitchFamily="34" charset="-120"/>
                        </a:rPr>
                        <a:t>/28</a:t>
                      </a:r>
                      <a:endParaRPr lang="en-US" sz="900" dirty="0">
                        <a:latin typeface="Open Sans" charset="0"/>
                        <a:ea typeface="Open Sans" charset="0"/>
                        <a:cs typeface="Open Sans" charset="0"/>
                      </a:endParaRPr>
                    </a:p>
                  </a:txBody>
                  <a:tcPr marL="115183" marR="115183" marT="6350" marB="6350" anchor="ctr">
                    <a:lnL w="12700" cap="flat" cmpd="sng" algn="ctr">
                      <a:solidFill>
                        <a:srgbClr val="F5EEE6"/>
                      </a:solidFill>
                      <a:prstDash val="solid"/>
                      <a:round/>
                      <a:headEnd type="none" w="med" len="med"/>
                      <a:tailEnd type="none" w="med" len="med"/>
                    </a:lnL>
                    <a:lnR w="12700" cap="flat" cmpd="sng" algn="ctr">
                      <a:solidFill>
                        <a:srgbClr val="F5EEE6"/>
                      </a:solidFill>
                      <a:prstDash val="solid"/>
                      <a:round/>
                      <a:headEnd type="none" w="med" len="med"/>
                      <a:tailEnd type="none" w="med" len="med"/>
                    </a:lnR>
                    <a:lnT w="12700" cap="flat" cmpd="sng" algn="ctr">
                      <a:solidFill>
                        <a:srgbClr val="F5EEE6"/>
                      </a:solidFill>
                      <a:prstDash val="solid"/>
                      <a:round/>
                      <a:headEnd type="none" w="med" len="med"/>
                      <a:tailEnd type="none" w="med" len="med"/>
                    </a:lnT>
                    <a:lnB w="12700" cap="flat" cmpd="sng" algn="ctr">
                      <a:solidFill>
                        <a:srgbClr val="F5EEE6"/>
                      </a:solidFill>
                      <a:prstDash val="solid"/>
                      <a:round/>
                      <a:headEnd type="none" w="med" len="med"/>
                      <a:tailEnd type="none" w="med" len="med"/>
                    </a:lnB>
                    <a:solidFill>
                      <a:srgbClr val="000000">
                        <a:alpha val="4000"/>
                      </a:srgbClr>
                    </a:solidFill>
                  </a:tcPr>
                </a:tc>
                <a:tc>
                  <a:txBody>
                    <a:bodyPr/>
                    <a:lstStyle/>
                    <a:p>
                      <a:pPr algn="l" indent="0" marL="0">
                        <a:buNone/>
                      </a:pPr>
                      <a:r>
                        <a:rPr lang="en-US" sz="900" spc="-18" kern="0" dirty="0">
                          <a:solidFill>
                            <a:srgbClr val="2B2E3C"/>
                          </a:solidFill>
                          <a:latin typeface="Open Sans" pitchFamily="34" charset="0"/>
                          <a:ea typeface="Open Sans" pitchFamily="34" charset="-122"/>
                          <a:cs typeface="Open Sans" pitchFamily="34" charset="-120"/>
                        </a:rPr>
                        <a:t>192.168.1.0</a:t>
                      </a:r>
                      <a:endParaRPr lang="en-US" sz="900" dirty="0">
                        <a:latin typeface="Open Sans" charset="0"/>
                        <a:ea typeface="Open Sans" charset="0"/>
                        <a:cs typeface="Open Sans" charset="0"/>
                      </a:endParaRPr>
                    </a:p>
                  </a:txBody>
                  <a:tcPr marL="115183" marR="115183" marT="6350" marB="6350" anchor="ctr">
                    <a:lnL w="12700" cap="flat" cmpd="sng" algn="ctr">
                      <a:solidFill>
                        <a:srgbClr val="F5EEE6"/>
                      </a:solidFill>
                      <a:prstDash val="solid"/>
                      <a:round/>
                      <a:headEnd type="none" w="med" len="med"/>
                      <a:tailEnd type="none" w="med" len="med"/>
                    </a:lnL>
                    <a:lnR w="12700" cap="flat" cmpd="sng" algn="ctr">
                      <a:solidFill>
                        <a:srgbClr val="E2C8B5"/>
                      </a:solidFill>
                      <a:prstDash val="solid"/>
                      <a:round/>
                      <a:headEnd type="none" w="med" len="med"/>
                      <a:tailEnd type="none" w="med" len="med"/>
                    </a:lnR>
                    <a:lnT w="12700" cap="flat" cmpd="sng" algn="ctr">
                      <a:solidFill>
                        <a:srgbClr val="F5EEE6"/>
                      </a:solidFill>
                      <a:prstDash val="solid"/>
                      <a:round/>
                      <a:headEnd type="none" w="med" len="med"/>
                      <a:tailEnd type="none" w="med" len="med"/>
                    </a:lnT>
                    <a:lnB w="12700" cap="flat" cmpd="sng" algn="ctr">
                      <a:solidFill>
                        <a:srgbClr val="F5EEE6"/>
                      </a:solidFill>
                      <a:prstDash val="solid"/>
                      <a:round/>
                      <a:headEnd type="none" w="med" len="med"/>
                      <a:tailEnd type="none" w="med" len="med"/>
                    </a:lnB>
                    <a:solidFill>
                      <a:srgbClr val="000000">
                        <a:alpha val="4000"/>
                      </a:srgbClr>
                    </a:solidFill>
                  </a:tcPr>
                </a:tc>
              </a:tr>
              <a:tr h="245064">
                <a:tc>
                  <a:txBody>
                    <a:bodyPr/>
                    <a:lstStyle/>
                    <a:p>
                      <a:pPr algn="l" indent="0" marL="0">
                        <a:buNone/>
                      </a:pPr>
                      <a:r>
                        <a:rPr lang="en-US" sz="900" spc="-18" kern="0" dirty="0">
                          <a:solidFill>
                            <a:srgbClr val="2B2E3C"/>
                          </a:solidFill>
                          <a:latin typeface="Open Sans" pitchFamily="34" charset="0"/>
                          <a:ea typeface="Open Sans" pitchFamily="34" charset="-122"/>
                          <a:cs typeface="Open Sans" pitchFamily="34" charset="-120"/>
                        </a:rPr>
                        <a:t>AAA</a:t>
                      </a:r>
                      <a:endParaRPr lang="en-US" sz="900" dirty="0">
                        <a:latin typeface="Open Sans" charset="0"/>
                        <a:ea typeface="Open Sans" charset="0"/>
                        <a:cs typeface="Open Sans" charset="0"/>
                      </a:endParaRPr>
                    </a:p>
                  </a:txBody>
                  <a:tcPr marL="115183" marR="115183" marT="6350" marB="6350" anchor="ctr">
                    <a:lnL w="12700" cap="flat" cmpd="sng" algn="ctr">
                      <a:solidFill>
                        <a:srgbClr val="E2C8B5"/>
                      </a:solidFill>
                      <a:prstDash val="solid"/>
                      <a:round/>
                      <a:headEnd type="none" w="med" len="med"/>
                      <a:tailEnd type="none" w="med" len="med"/>
                    </a:lnL>
                    <a:lnR w="12700" cap="flat" cmpd="sng" algn="ctr">
                      <a:solidFill>
                        <a:srgbClr val="FFF8F1"/>
                      </a:solidFill>
                      <a:prstDash val="solid"/>
                      <a:round/>
                      <a:headEnd type="none" w="med" len="med"/>
                      <a:tailEnd type="none" w="med" len="med"/>
                    </a:lnR>
                    <a:lnT w="12700" cap="flat" cmpd="sng" algn="ctr">
                      <a:solidFill>
                        <a:srgbClr val="FFF8F1"/>
                      </a:solidFill>
                      <a:prstDash val="solid"/>
                      <a:round/>
                      <a:headEnd type="none" w="med" len="med"/>
                      <a:tailEnd type="none" w="med" len="med"/>
                    </a:lnT>
                    <a:lnB w="12700" cap="flat" cmpd="sng" algn="ctr">
                      <a:solidFill>
                        <a:srgbClr val="FFF8F1"/>
                      </a:solidFill>
                      <a:prstDash val="solid"/>
                      <a:round/>
                      <a:headEnd type="none" w="med" len="med"/>
                      <a:tailEnd type="none" w="med" len="med"/>
                    </a:lnB>
                    <a:solidFill>
                      <a:srgbClr val="FFFFFF">
                        <a:alpha val="4000"/>
                      </a:srgbClr>
                    </a:solidFill>
                  </a:tcPr>
                </a:tc>
                <a:tc>
                  <a:txBody>
                    <a:bodyPr/>
                    <a:lstStyle/>
                    <a:p>
                      <a:pPr algn="l" indent="0" marL="0">
                        <a:buNone/>
                      </a:pPr>
                      <a:r>
                        <a:rPr lang="en-US" sz="900" spc="-18" kern="0" dirty="0">
                          <a:solidFill>
                            <a:srgbClr val="2B2E3C"/>
                          </a:solidFill>
                          <a:latin typeface="Open Sans" pitchFamily="34" charset="0"/>
                          <a:ea typeface="Open Sans" pitchFamily="34" charset="-122"/>
                          <a:cs typeface="Open Sans" pitchFamily="34" charset="-120"/>
                        </a:rPr>
                        <a:t>5</a:t>
                      </a:r>
                      <a:endParaRPr lang="en-US" sz="900" dirty="0">
                        <a:latin typeface="Open Sans" charset="0"/>
                        <a:ea typeface="Open Sans" charset="0"/>
                        <a:cs typeface="Open Sans" charset="0"/>
                      </a:endParaRPr>
                    </a:p>
                  </a:txBody>
                  <a:tcPr marL="115183" marR="115183" marT="6350" marB="6350" anchor="ctr">
                    <a:lnL w="12700" cap="flat" cmpd="sng" algn="ctr">
                      <a:solidFill>
                        <a:srgbClr val="FFF8F1"/>
                      </a:solidFill>
                      <a:prstDash val="solid"/>
                      <a:round/>
                      <a:headEnd type="none" w="med" len="med"/>
                      <a:tailEnd type="none" w="med" len="med"/>
                    </a:lnL>
                    <a:lnR w="12700" cap="flat" cmpd="sng" algn="ctr">
                      <a:solidFill>
                        <a:srgbClr val="FFF8F1"/>
                      </a:solidFill>
                      <a:prstDash val="solid"/>
                      <a:round/>
                      <a:headEnd type="none" w="med" len="med"/>
                      <a:tailEnd type="none" w="med" len="med"/>
                    </a:lnR>
                    <a:lnT w="12700" cap="flat" cmpd="sng" algn="ctr">
                      <a:solidFill>
                        <a:srgbClr val="FFF8F1"/>
                      </a:solidFill>
                      <a:prstDash val="solid"/>
                      <a:round/>
                      <a:headEnd type="none" w="med" len="med"/>
                      <a:tailEnd type="none" w="med" len="med"/>
                    </a:lnT>
                    <a:lnB w="12700" cap="flat" cmpd="sng" algn="ctr">
                      <a:solidFill>
                        <a:srgbClr val="FFF8F1"/>
                      </a:solidFill>
                      <a:prstDash val="solid"/>
                      <a:round/>
                      <a:headEnd type="none" w="med" len="med"/>
                      <a:tailEnd type="none" w="med" len="med"/>
                    </a:lnB>
                    <a:solidFill>
                      <a:srgbClr val="FFFFFF">
                        <a:alpha val="4000"/>
                      </a:srgbClr>
                    </a:solidFill>
                  </a:tcPr>
                </a:tc>
                <a:tc>
                  <a:txBody>
                    <a:bodyPr/>
                    <a:lstStyle/>
                    <a:p>
                      <a:pPr algn="l" indent="0" marL="0">
                        <a:buNone/>
                      </a:pPr>
                      <a:r>
                        <a:rPr lang="en-US" sz="900" spc="-18" kern="0" dirty="0">
                          <a:solidFill>
                            <a:srgbClr val="2B2E3C"/>
                          </a:solidFill>
                          <a:latin typeface="Open Sans" pitchFamily="34" charset="0"/>
                          <a:ea typeface="Open Sans" pitchFamily="34" charset="-122"/>
                          <a:cs typeface="Open Sans" pitchFamily="34" charset="-120"/>
                        </a:rPr>
                        <a:t>/29</a:t>
                      </a:r>
                      <a:endParaRPr lang="en-US" sz="900" dirty="0">
                        <a:latin typeface="Open Sans" charset="0"/>
                        <a:ea typeface="Open Sans" charset="0"/>
                        <a:cs typeface="Open Sans" charset="0"/>
                      </a:endParaRPr>
                    </a:p>
                  </a:txBody>
                  <a:tcPr marL="115183" marR="115183" marT="6350" marB="6350" anchor="ctr">
                    <a:lnL w="12700" cap="flat" cmpd="sng" algn="ctr">
                      <a:solidFill>
                        <a:srgbClr val="FFF8F1"/>
                      </a:solidFill>
                      <a:prstDash val="solid"/>
                      <a:round/>
                      <a:headEnd type="none" w="med" len="med"/>
                      <a:tailEnd type="none" w="med" len="med"/>
                    </a:lnL>
                    <a:lnR w="12700" cap="flat" cmpd="sng" algn="ctr">
                      <a:solidFill>
                        <a:srgbClr val="FFF8F1"/>
                      </a:solidFill>
                      <a:prstDash val="solid"/>
                      <a:round/>
                      <a:headEnd type="none" w="med" len="med"/>
                      <a:tailEnd type="none" w="med" len="med"/>
                    </a:lnR>
                    <a:lnT w="12700" cap="flat" cmpd="sng" algn="ctr">
                      <a:solidFill>
                        <a:srgbClr val="FFF8F1"/>
                      </a:solidFill>
                      <a:prstDash val="solid"/>
                      <a:round/>
                      <a:headEnd type="none" w="med" len="med"/>
                      <a:tailEnd type="none" w="med" len="med"/>
                    </a:lnT>
                    <a:lnB w="12700" cap="flat" cmpd="sng" algn="ctr">
                      <a:solidFill>
                        <a:srgbClr val="FFF8F1"/>
                      </a:solidFill>
                      <a:prstDash val="solid"/>
                      <a:round/>
                      <a:headEnd type="none" w="med" len="med"/>
                      <a:tailEnd type="none" w="med" len="med"/>
                    </a:lnB>
                    <a:solidFill>
                      <a:srgbClr val="FFFFFF">
                        <a:alpha val="4000"/>
                      </a:srgbClr>
                    </a:solidFill>
                  </a:tcPr>
                </a:tc>
                <a:tc>
                  <a:txBody>
                    <a:bodyPr/>
                    <a:lstStyle/>
                    <a:p>
                      <a:pPr algn="l" indent="0" marL="0">
                        <a:buNone/>
                      </a:pPr>
                      <a:r>
                        <a:rPr lang="en-US" sz="900" spc="-18" kern="0" dirty="0">
                          <a:solidFill>
                            <a:srgbClr val="2B2E3C"/>
                          </a:solidFill>
                          <a:latin typeface="Open Sans" pitchFamily="34" charset="0"/>
                          <a:ea typeface="Open Sans" pitchFamily="34" charset="-122"/>
                          <a:cs typeface="Open Sans" pitchFamily="34" charset="-120"/>
                        </a:rPr>
                        <a:t>192.168.1.16</a:t>
                      </a:r>
                      <a:endParaRPr lang="en-US" sz="900" dirty="0">
                        <a:latin typeface="Open Sans" charset="0"/>
                        <a:ea typeface="Open Sans" charset="0"/>
                        <a:cs typeface="Open Sans" charset="0"/>
                      </a:endParaRPr>
                    </a:p>
                  </a:txBody>
                  <a:tcPr marL="115183" marR="115183" marT="6350" marB="6350" anchor="ctr">
                    <a:lnL w="12700" cap="flat" cmpd="sng" algn="ctr">
                      <a:solidFill>
                        <a:srgbClr val="FFF8F1"/>
                      </a:solidFill>
                      <a:prstDash val="solid"/>
                      <a:round/>
                      <a:headEnd type="none" w="med" len="med"/>
                      <a:tailEnd type="none" w="med" len="med"/>
                    </a:lnL>
                    <a:lnR w="12700" cap="flat" cmpd="sng" algn="ctr">
                      <a:solidFill>
                        <a:srgbClr val="E2C8B5"/>
                      </a:solidFill>
                      <a:prstDash val="solid"/>
                      <a:round/>
                      <a:headEnd type="none" w="med" len="med"/>
                      <a:tailEnd type="none" w="med" len="med"/>
                    </a:lnR>
                    <a:lnT w="12700" cap="flat" cmpd="sng" algn="ctr">
                      <a:solidFill>
                        <a:srgbClr val="FFF8F1"/>
                      </a:solidFill>
                      <a:prstDash val="solid"/>
                      <a:round/>
                      <a:headEnd type="none" w="med" len="med"/>
                      <a:tailEnd type="none" w="med" len="med"/>
                    </a:lnT>
                    <a:lnB w="12700" cap="flat" cmpd="sng" algn="ctr">
                      <a:solidFill>
                        <a:srgbClr val="FFF8F1"/>
                      </a:solidFill>
                      <a:prstDash val="solid"/>
                      <a:round/>
                      <a:headEnd type="none" w="med" len="med"/>
                      <a:tailEnd type="none" w="med" len="med"/>
                    </a:lnB>
                    <a:solidFill>
                      <a:srgbClr val="FFFFFF">
                        <a:alpha val="4000"/>
                      </a:srgbClr>
                    </a:solidFill>
                  </a:tcPr>
                </a:tc>
              </a:tr>
              <a:tr h="245064">
                <a:tc>
                  <a:txBody>
                    <a:bodyPr/>
                    <a:lstStyle/>
                    <a:p>
                      <a:pPr algn="l" indent="0" marL="0">
                        <a:buNone/>
                      </a:pPr>
                      <a:r>
                        <a:rPr lang="en-US" sz="900" spc="-18" kern="0" dirty="0">
                          <a:solidFill>
                            <a:srgbClr val="2B2E3C"/>
                          </a:solidFill>
                          <a:latin typeface="Open Sans" pitchFamily="34" charset="0"/>
                          <a:ea typeface="Open Sans" pitchFamily="34" charset="-122"/>
                          <a:cs typeface="Open Sans" pitchFamily="34" charset="-120"/>
                        </a:rPr>
                        <a:t>VPN LEFT</a:t>
                      </a:r>
                      <a:endParaRPr lang="en-US" sz="900" dirty="0">
                        <a:latin typeface="Open Sans" charset="0"/>
                        <a:ea typeface="Open Sans" charset="0"/>
                        <a:cs typeface="Open Sans" charset="0"/>
                      </a:endParaRPr>
                    </a:p>
                  </a:txBody>
                  <a:tcPr marL="115183" marR="115183" marT="6350" marB="6350" anchor="ctr">
                    <a:lnL w="12700" cap="flat" cmpd="sng" algn="ctr">
                      <a:solidFill>
                        <a:srgbClr val="E2C8B5"/>
                      </a:solidFill>
                      <a:prstDash val="solid"/>
                      <a:round/>
                      <a:headEnd type="none" w="med" len="med"/>
                      <a:tailEnd type="none" w="med" len="med"/>
                    </a:lnL>
                    <a:lnR w="12700" cap="flat" cmpd="sng" algn="ctr">
                      <a:solidFill>
                        <a:srgbClr val="F5EEE6"/>
                      </a:solidFill>
                      <a:prstDash val="solid"/>
                      <a:round/>
                      <a:headEnd type="none" w="med" len="med"/>
                      <a:tailEnd type="none" w="med" len="med"/>
                    </a:lnR>
                    <a:lnT w="12700" cap="flat" cmpd="sng" algn="ctr">
                      <a:solidFill>
                        <a:srgbClr val="F5EEE6"/>
                      </a:solidFill>
                      <a:prstDash val="solid"/>
                      <a:round/>
                      <a:headEnd type="none" w="med" len="med"/>
                      <a:tailEnd type="none" w="med" len="med"/>
                    </a:lnT>
                    <a:lnB w="12700" cap="flat" cmpd="sng" algn="ctr">
                      <a:solidFill>
                        <a:srgbClr val="F5EEE6"/>
                      </a:solidFill>
                      <a:prstDash val="solid"/>
                      <a:round/>
                      <a:headEnd type="none" w="med" len="med"/>
                      <a:tailEnd type="none" w="med" len="med"/>
                    </a:lnB>
                    <a:solidFill>
                      <a:srgbClr val="000000">
                        <a:alpha val="4000"/>
                      </a:srgbClr>
                    </a:solidFill>
                  </a:tcPr>
                </a:tc>
                <a:tc>
                  <a:txBody>
                    <a:bodyPr/>
                    <a:lstStyle/>
                    <a:p>
                      <a:pPr algn="l" indent="0" marL="0">
                        <a:buNone/>
                      </a:pPr>
                      <a:r>
                        <a:rPr lang="en-US" sz="900" spc="-18" kern="0" dirty="0">
                          <a:solidFill>
                            <a:srgbClr val="2B2E3C"/>
                          </a:solidFill>
                          <a:latin typeface="Open Sans" pitchFamily="34" charset="0"/>
                          <a:ea typeface="Open Sans" pitchFamily="34" charset="-122"/>
                          <a:cs typeface="Open Sans" pitchFamily="34" charset="-120"/>
                        </a:rPr>
                        <a:t>4</a:t>
                      </a:r>
                      <a:endParaRPr lang="en-US" sz="900" dirty="0">
                        <a:latin typeface="Open Sans" charset="0"/>
                        <a:ea typeface="Open Sans" charset="0"/>
                        <a:cs typeface="Open Sans" charset="0"/>
                      </a:endParaRPr>
                    </a:p>
                  </a:txBody>
                  <a:tcPr marL="115183" marR="115183" marT="6350" marB="6350" anchor="ctr">
                    <a:lnL w="12700" cap="flat" cmpd="sng" algn="ctr">
                      <a:solidFill>
                        <a:srgbClr val="F5EEE6"/>
                      </a:solidFill>
                      <a:prstDash val="solid"/>
                      <a:round/>
                      <a:headEnd type="none" w="med" len="med"/>
                      <a:tailEnd type="none" w="med" len="med"/>
                    </a:lnL>
                    <a:lnR w="12700" cap="flat" cmpd="sng" algn="ctr">
                      <a:solidFill>
                        <a:srgbClr val="F5EEE6"/>
                      </a:solidFill>
                      <a:prstDash val="solid"/>
                      <a:round/>
                      <a:headEnd type="none" w="med" len="med"/>
                      <a:tailEnd type="none" w="med" len="med"/>
                    </a:lnR>
                    <a:lnT w="12700" cap="flat" cmpd="sng" algn="ctr">
                      <a:solidFill>
                        <a:srgbClr val="F5EEE6"/>
                      </a:solidFill>
                      <a:prstDash val="solid"/>
                      <a:round/>
                      <a:headEnd type="none" w="med" len="med"/>
                      <a:tailEnd type="none" w="med" len="med"/>
                    </a:lnT>
                    <a:lnB w="12700" cap="flat" cmpd="sng" algn="ctr">
                      <a:solidFill>
                        <a:srgbClr val="F5EEE6"/>
                      </a:solidFill>
                      <a:prstDash val="solid"/>
                      <a:round/>
                      <a:headEnd type="none" w="med" len="med"/>
                      <a:tailEnd type="none" w="med" len="med"/>
                    </a:lnB>
                    <a:solidFill>
                      <a:srgbClr val="000000">
                        <a:alpha val="4000"/>
                      </a:srgbClr>
                    </a:solidFill>
                  </a:tcPr>
                </a:tc>
                <a:tc>
                  <a:txBody>
                    <a:bodyPr/>
                    <a:lstStyle/>
                    <a:p>
                      <a:pPr algn="l" indent="0" marL="0">
                        <a:buNone/>
                      </a:pPr>
                      <a:r>
                        <a:rPr lang="en-US" sz="900" spc="-18" kern="0" dirty="0">
                          <a:solidFill>
                            <a:srgbClr val="2B2E3C"/>
                          </a:solidFill>
                          <a:latin typeface="Open Sans" pitchFamily="34" charset="0"/>
                          <a:ea typeface="Open Sans" pitchFamily="34" charset="-122"/>
                          <a:cs typeface="Open Sans" pitchFamily="34" charset="-120"/>
                        </a:rPr>
                        <a:t>/29</a:t>
                      </a:r>
                      <a:endParaRPr lang="en-US" sz="900" dirty="0">
                        <a:latin typeface="Open Sans" charset="0"/>
                        <a:ea typeface="Open Sans" charset="0"/>
                        <a:cs typeface="Open Sans" charset="0"/>
                      </a:endParaRPr>
                    </a:p>
                  </a:txBody>
                  <a:tcPr marL="115183" marR="115183" marT="6350" marB="6350" anchor="ctr">
                    <a:lnL w="12700" cap="flat" cmpd="sng" algn="ctr">
                      <a:solidFill>
                        <a:srgbClr val="F5EEE6"/>
                      </a:solidFill>
                      <a:prstDash val="solid"/>
                      <a:round/>
                      <a:headEnd type="none" w="med" len="med"/>
                      <a:tailEnd type="none" w="med" len="med"/>
                    </a:lnL>
                    <a:lnR w="12700" cap="flat" cmpd="sng" algn="ctr">
                      <a:solidFill>
                        <a:srgbClr val="F5EEE6"/>
                      </a:solidFill>
                      <a:prstDash val="solid"/>
                      <a:round/>
                      <a:headEnd type="none" w="med" len="med"/>
                      <a:tailEnd type="none" w="med" len="med"/>
                    </a:lnR>
                    <a:lnT w="12700" cap="flat" cmpd="sng" algn="ctr">
                      <a:solidFill>
                        <a:srgbClr val="F5EEE6"/>
                      </a:solidFill>
                      <a:prstDash val="solid"/>
                      <a:round/>
                      <a:headEnd type="none" w="med" len="med"/>
                      <a:tailEnd type="none" w="med" len="med"/>
                    </a:lnT>
                    <a:lnB w="12700" cap="flat" cmpd="sng" algn="ctr">
                      <a:solidFill>
                        <a:srgbClr val="F5EEE6"/>
                      </a:solidFill>
                      <a:prstDash val="solid"/>
                      <a:round/>
                      <a:headEnd type="none" w="med" len="med"/>
                      <a:tailEnd type="none" w="med" len="med"/>
                    </a:lnB>
                    <a:solidFill>
                      <a:srgbClr val="000000">
                        <a:alpha val="4000"/>
                      </a:srgbClr>
                    </a:solidFill>
                  </a:tcPr>
                </a:tc>
                <a:tc>
                  <a:txBody>
                    <a:bodyPr/>
                    <a:lstStyle/>
                    <a:p>
                      <a:pPr algn="l" indent="0" marL="0">
                        <a:buNone/>
                      </a:pPr>
                      <a:r>
                        <a:rPr lang="en-US" sz="900" spc="-18" kern="0" dirty="0">
                          <a:solidFill>
                            <a:srgbClr val="2B2E3C"/>
                          </a:solidFill>
                          <a:latin typeface="Open Sans" pitchFamily="34" charset="0"/>
                          <a:ea typeface="Open Sans" pitchFamily="34" charset="-122"/>
                          <a:cs typeface="Open Sans" pitchFamily="34" charset="-120"/>
                        </a:rPr>
                        <a:t>192.168.1.24</a:t>
                      </a:r>
                      <a:endParaRPr lang="en-US" sz="900" dirty="0">
                        <a:latin typeface="Open Sans" charset="0"/>
                        <a:ea typeface="Open Sans" charset="0"/>
                        <a:cs typeface="Open Sans" charset="0"/>
                      </a:endParaRPr>
                    </a:p>
                  </a:txBody>
                  <a:tcPr marL="115183" marR="115183" marT="6350" marB="6350" anchor="ctr">
                    <a:lnL w="12700" cap="flat" cmpd="sng" algn="ctr">
                      <a:solidFill>
                        <a:srgbClr val="F5EEE6"/>
                      </a:solidFill>
                      <a:prstDash val="solid"/>
                      <a:round/>
                      <a:headEnd type="none" w="med" len="med"/>
                      <a:tailEnd type="none" w="med" len="med"/>
                    </a:lnL>
                    <a:lnR w="12700" cap="flat" cmpd="sng" algn="ctr">
                      <a:solidFill>
                        <a:srgbClr val="E2C8B5"/>
                      </a:solidFill>
                      <a:prstDash val="solid"/>
                      <a:round/>
                      <a:headEnd type="none" w="med" len="med"/>
                      <a:tailEnd type="none" w="med" len="med"/>
                    </a:lnR>
                    <a:lnT w="12700" cap="flat" cmpd="sng" algn="ctr">
                      <a:solidFill>
                        <a:srgbClr val="F5EEE6"/>
                      </a:solidFill>
                      <a:prstDash val="solid"/>
                      <a:round/>
                      <a:headEnd type="none" w="med" len="med"/>
                      <a:tailEnd type="none" w="med" len="med"/>
                    </a:lnT>
                    <a:lnB w="12700" cap="flat" cmpd="sng" algn="ctr">
                      <a:solidFill>
                        <a:srgbClr val="F5EEE6"/>
                      </a:solidFill>
                      <a:prstDash val="solid"/>
                      <a:round/>
                      <a:headEnd type="none" w="med" len="med"/>
                      <a:tailEnd type="none" w="med" len="med"/>
                    </a:lnB>
                    <a:solidFill>
                      <a:srgbClr val="000000">
                        <a:alpha val="4000"/>
                      </a:srgbClr>
                    </a:solidFill>
                  </a:tcPr>
                </a:tc>
              </a:tr>
              <a:tr h="245064">
                <a:tc>
                  <a:txBody>
                    <a:bodyPr/>
                    <a:lstStyle/>
                    <a:p>
                      <a:pPr algn="l" indent="0" marL="0">
                        <a:buNone/>
                      </a:pPr>
                      <a:r>
                        <a:rPr lang="en-US" sz="900" spc="-18" kern="0" dirty="0">
                          <a:solidFill>
                            <a:srgbClr val="2B2E3C"/>
                          </a:solidFill>
                          <a:latin typeface="Open Sans" pitchFamily="34" charset="0"/>
                          <a:ea typeface="Open Sans" pitchFamily="34" charset="-122"/>
                          <a:cs typeface="Open Sans" pitchFamily="34" charset="-120"/>
                        </a:rPr>
                        <a:t>NTP &amp; SYSLOG</a:t>
                      </a:r>
                      <a:endParaRPr lang="en-US" sz="900" dirty="0">
                        <a:latin typeface="Open Sans" charset="0"/>
                        <a:ea typeface="Open Sans" charset="0"/>
                        <a:cs typeface="Open Sans" charset="0"/>
                      </a:endParaRPr>
                    </a:p>
                  </a:txBody>
                  <a:tcPr marL="115183" marR="115183" marT="6350" marB="6350" anchor="ctr">
                    <a:lnL w="12700" cap="flat" cmpd="sng" algn="ctr">
                      <a:solidFill>
                        <a:srgbClr val="E2C8B5"/>
                      </a:solidFill>
                      <a:prstDash val="solid"/>
                      <a:round/>
                      <a:headEnd type="none" w="med" len="med"/>
                      <a:tailEnd type="none" w="med" len="med"/>
                    </a:lnL>
                    <a:lnR w="12700" cap="flat" cmpd="sng" algn="ctr">
                      <a:solidFill>
                        <a:srgbClr val="FFF8F1"/>
                      </a:solidFill>
                      <a:prstDash val="solid"/>
                      <a:round/>
                      <a:headEnd type="none" w="med" len="med"/>
                      <a:tailEnd type="none" w="med" len="med"/>
                    </a:lnR>
                    <a:lnT w="12700" cap="flat" cmpd="sng" algn="ctr">
                      <a:solidFill>
                        <a:srgbClr val="FFF8F1"/>
                      </a:solidFill>
                      <a:prstDash val="solid"/>
                      <a:round/>
                      <a:headEnd type="none" w="med" len="med"/>
                      <a:tailEnd type="none" w="med" len="med"/>
                    </a:lnT>
                    <a:lnB w="12700" cap="flat" cmpd="sng" algn="ctr">
                      <a:solidFill>
                        <a:srgbClr val="FFF8F1"/>
                      </a:solidFill>
                      <a:prstDash val="solid"/>
                      <a:round/>
                      <a:headEnd type="none" w="med" len="med"/>
                      <a:tailEnd type="none" w="med" len="med"/>
                    </a:lnB>
                    <a:solidFill>
                      <a:srgbClr val="FFFFFF">
                        <a:alpha val="4000"/>
                      </a:srgbClr>
                    </a:solidFill>
                  </a:tcPr>
                </a:tc>
                <a:tc>
                  <a:txBody>
                    <a:bodyPr/>
                    <a:lstStyle/>
                    <a:p>
                      <a:pPr algn="l" indent="0" marL="0">
                        <a:buNone/>
                      </a:pPr>
                      <a:r>
                        <a:rPr lang="en-US" sz="900" spc="-18" kern="0" dirty="0">
                          <a:solidFill>
                            <a:srgbClr val="2B2E3C"/>
                          </a:solidFill>
                          <a:latin typeface="Open Sans" pitchFamily="34" charset="0"/>
                          <a:ea typeface="Open Sans" pitchFamily="34" charset="-122"/>
                          <a:cs typeface="Open Sans" pitchFamily="34" charset="-120"/>
                        </a:rPr>
                        <a:t>4</a:t>
                      </a:r>
                      <a:endParaRPr lang="en-US" sz="900" dirty="0">
                        <a:latin typeface="Open Sans" charset="0"/>
                        <a:ea typeface="Open Sans" charset="0"/>
                        <a:cs typeface="Open Sans" charset="0"/>
                      </a:endParaRPr>
                    </a:p>
                  </a:txBody>
                  <a:tcPr marL="115183" marR="115183" marT="6350" marB="6350" anchor="ctr">
                    <a:lnL w="12700" cap="flat" cmpd="sng" algn="ctr">
                      <a:solidFill>
                        <a:srgbClr val="FFF8F1"/>
                      </a:solidFill>
                      <a:prstDash val="solid"/>
                      <a:round/>
                      <a:headEnd type="none" w="med" len="med"/>
                      <a:tailEnd type="none" w="med" len="med"/>
                    </a:lnL>
                    <a:lnR w="12700" cap="flat" cmpd="sng" algn="ctr">
                      <a:solidFill>
                        <a:srgbClr val="FFF8F1"/>
                      </a:solidFill>
                      <a:prstDash val="solid"/>
                      <a:round/>
                      <a:headEnd type="none" w="med" len="med"/>
                      <a:tailEnd type="none" w="med" len="med"/>
                    </a:lnR>
                    <a:lnT w="12700" cap="flat" cmpd="sng" algn="ctr">
                      <a:solidFill>
                        <a:srgbClr val="FFF8F1"/>
                      </a:solidFill>
                      <a:prstDash val="solid"/>
                      <a:round/>
                      <a:headEnd type="none" w="med" len="med"/>
                      <a:tailEnd type="none" w="med" len="med"/>
                    </a:lnT>
                    <a:lnB w="12700" cap="flat" cmpd="sng" algn="ctr">
                      <a:solidFill>
                        <a:srgbClr val="FFF8F1"/>
                      </a:solidFill>
                      <a:prstDash val="solid"/>
                      <a:round/>
                      <a:headEnd type="none" w="med" len="med"/>
                      <a:tailEnd type="none" w="med" len="med"/>
                    </a:lnB>
                    <a:solidFill>
                      <a:srgbClr val="FFFFFF">
                        <a:alpha val="4000"/>
                      </a:srgbClr>
                    </a:solidFill>
                  </a:tcPr>
                </a:tc>
                <a:tc>
                  <a:txBody>
                    <a:bodyPr/>
                    <a:lstStyle/>
                    <a:p>
                      <a:pPr algn="l" indent="0" marL="0">
                        <a:buNone/>
                      </a:pPr>
                      <a:r>
                        <a:rPr lang="en-US" sz="900" spc="-18" kern="0" dirty="0">
                          <a:solidFill>
                            <a:srgbClr val="2B2E3C"/>
                          </a:solidFill>
                          <a:latin typeface="Open Sans" pitchFamily="34" charset="0"/>
                          <a:ea typeface="Open Sans" pitchFamily="34" charset="-122"/>
                          <a:cs typeface="Open Sans" pitchFamily="34" charset="-120"/>
                        </a:rPr>
                        <a:t>/29</a:t>
                      </a:r>
                      <a:endParaRPr lang="en-US" sz="900" dirty="0">
                        <a:latin typeface="Open Sans" charset="0"/>
                        <a:ea typeface="Open Sans" charset="0"/>
                        <a:cs typeface="Open Sans" charset="0"/>
                      </a:endParaRPr>
                    </a:p>
                  </a:txBody>
                  <a:tcPr marL="115183" marR="115183" marT="6350" marB="6350" anchor="ctr">
                    <a:lnL w="12700" cap="flat" cmpd="sng" algn="ctr">
                      <a:solidFill>
                        <a:srgbClr val="FFF8F1"/>
                      </a:solidFill>
                      <a:prstDash val="solid"/>
                      <a:round/>
                      <a:headEnd type="none" w="med" len="med"/>
                      <a:tailEnd type="none" w="med" len="med"/>
                    </a:lnL>
                    <a:lnR w="12700" cap="flat" cmpd="sng" algn="ctr">
                      <a:solidFill>
                        <a:srgbClr val="FFF8F1"/>
                      </a:solidFill>
                      <a:prstDash val="solid"/>
                      <a:round/>
                      <a:headEnd type="none" w="med" len="med"/>
                      <a:tailEnd type="none" w="med" len="med"/>
                    </a:lnR>
                    <a:lnT w="12700" cap="flat" cmpd="sng" algn="ctr">
                      <a:solidFill>
                        <a:srgbClr val="FFF8F1"/>
                      </a:solidFill>
                      <a:prstDash val="solid"/>
                      <a:round/>
                      <a:headEnd type="none" w="med" len="med"/>
                      <a:tailEnd type="none" w="med" len="med"/>
                    </a:lnT>
                    <a:lnB w="12700" cap="flat" cmpd="sng" algn="ctr">
                      <a:solidFill>
                        <a:srgbClr val="FFF8F1"/>
                      </a:solidFill>
                      <a:prstDash val="solid"/>
                      <a:round/>
                      <a:headEnd type="none" w="med" len="med"/>
                      <a:tailEnd type="none" w="med" len="med"/>
                    </a:lnB>
                    <a:solidFill>
                      <a:srgbClr val="FFFFFF">
                        <a:alpha val="4000"/>
                      </a:srgbClr>
                    </a:solidFill>
                  </a:tcPr>
                </a:tc>
                <a:tc>
                  <a:txBody>
                    <a:bodyPr/>
                    <a:lstStyle/>
                    <a:p>
                      <a:pPr algn="l" indent="0" marL="0">
                        <a:buNone/>
                      </a:pPr>
                      <a:r>
                        <a:rPr lang="en-US" sz="900" spc="-18" kern="0" dirty="0">
                          <a:solidFill>
                            <a:srgbClr val="2B2E3C"/>
                          </a:solidFill>
                          <a:latin typeface="Open Sans" pitchFamily="34" charset="0"/>
                          <a:ea typeface="Open Sans" pitchFamily="34" charset="-122"/>
                          <a:cs typeface="Open Sans" pitchFamily="34" charset="-120"/>
                        </a:rPr>
                        <a:t>192.168.1.32</a:t>
                      </a:r>
                      <a:endParaRPr lang="en-US" sz="900" dirty="0">
                        <a:latin typeface="Open Sans" charset="0"/>
                        <a:ea typeface="Open Sans" charset="0"/>
                        <a:cs typeface="Open Sans" charset="0"/>
                      </a:endParaRPr>
                    </a:p>
                  </a:txBody>
                  <a:tcPr marL="115183" marR="115183" marT="6350" marB="6350" anchor="ctr">
                    <a:lnL w="12700" cap="flat" cmpd="sng" algn="ctr">
                      <a:solidFill>
                        <a:srgbClr val="FFF8F1"/>
                      </a:solidFill>
                      <a:prstDash val="solid"/>
                      <a:round/>
                      <a:headEnd type="none" w="med" len="med"/>
                      <a:tailEnd type="none" w="med" len="med"/>
                    </a:lnL>
                    <a:lnR w="12700" cap="flat" cmpd="sng" algn="ctr">
                      <a:solidFill>
                        <a:srgbClr val="E2C8B5"/>
                      </a:solidFill>
                      <a:prstDash val="solid"/>
                      <a:round/>
                      <a:headEnd type="none" w="med" len="med"/>
                      <a:tailEnd type="none" w="med" len="med"/>
                    </a:lnR>
                    <a:lnT w="12700" cap="flat" cmpd="sng" algn="ctr">
                      <a:solidFill>
                        <a:srgbClr val="FFF8F1"/>
                      </a:solidFill>
                      <a:prstDash val="solid"/>
                      <a:round/>
                      <a:headEnd type="none" w="med" len="med"/>
                      <a:tailEnd type="none" w="med" len="med"/>
                    </a:lnT>
                    <a:lnB w="12700" cap="flat" cmpd="sng" algn="ctr">
                      <a:solidFill>
                        <a:srgbClr val="FFF8F1"/>
                      </a:solidFill>
                      <a:prstDash val="solid"/>
                      <a:round/>
                      <a:headEnd type="none" w="med" len="med"/>
                      <a:tailEnd type="none" w="med" len="med"/>
                    </a:lnB>
                    <a:solidFill>
                      <a:srgbClr val="FFFFFF">
                        <a:alpha val="4000"/>
                      </a:srgbClr>
                    </a:solidFill>
                  </a:tcPr>
                </a:tc>
              </a:tr>
              <a:tr h="245064">
                <a:tc>
                  <a:txBody>
                    <a:bodyPr/>
                    <a:lstStyle/>
                    <a:p>
                      <a:pPr algn="l" indent="0" marL="0">
                        <a:buNone/>
                      </a:pPr>
                      <a:r>
                        <a:rPr lang="en-US" sz="900" spc="-18" kern="0" dirty="0">
                          <a:solidFill>
                            <a:srgbClr val="2B2E3C"/>
                          </a:solidFill>
                          <a:latin typeface="Open Sans" pitchFamily="34" charset="0"/>
                          <a:ea typeface="Open Sans" pitchFamily="34" charset="-122"/>
                          <a:cs typeface="Open Sans" pitchFamily="34" charset="-120"/>
                        </a:rPr>
                        <a:t>Layer 2 Sec Left</a:t>
                      </a:r>
                      <a:endParaRPr lang="en-US" sz="900" dirty="0">
                        <a:latin typeface="Open Sans" charset="0"/>
                        <a:ea typeface="Open Sans" charset="0"/>
                        <a:cs typeface="Open Sans" charset="0"/>
                      </a:endParaRPr>
                    </a:p>
                  </a:txBody>
                  <a:tcPr marL="115183" marR="115183" marT="6350" marB="6350" anchor="ctr">
                    <a:lnL w="12700" cap="flat" cmpd="sng" algn="ctr">
                      <a:solidFill>
                        <a:srgbClr val="E2C8B5"/>
                      </a:solidFill>
                      <a:prstDash val="solid"/>
                      <a:round/>
                      <a:headEnd type="none" w="med" len="med"/>
                      <a:tailEnd type="none" w="med" len="med"/>
                    </a:lnL>
                    <a:lnR w="12700" cap="flat" cmpd="sng" algn="ctr">
                      <a:solidFill>
                        <a:srgbClr val="F5EEE6"/>
                      </a:solidFill>
                      <a:prstDash val="solid"/>
                      <a:round/>
                      <a:headEnd type="none" w="med" len="med"/>
                      <a:tailEnd type="none" w="med" len="med"/>
                    </a:lnR>
                    <a:lnT w="12700" cap="flat" cmpd="sng" algn="ctr">
                      <a:solidFill>
                        <a:srgbClr val="F5EEE6"/>
                      </a:solidFill>
                      <a:prstDash val="solid"/>
                      <a:round/>
                      <a:headEnd type="none" w="med" len="med"/>
                      <a:tailEnd type="none" w="med" len="med"/>
                    </a:lnT>
                    <a:lnB w="12700" cap="flat" cmpd="sng" algn="ctr">
                      <a:solidFill>
                        <a:srgbClr val="F5EEE6"/>
                      </a:solidFill>
                      <a:prstDash val="solid"/>
                      <a:round/>
                      <a:headEnd type="none" w="med" len="med"/>
                      <a:tailEnd type="none" w="med" len="med"/>
                    </a:lnB>
                    <a:solidFill>
                      <a:srgbClr val="000000">
                        <a:alpha val="4000"/>
                      </a:srgbClr>
                    </a:solidFill>
                  </a:tcPr>
                </a:tc>
                <a:tc>
                  <a:txBody>
                    <a:bodyPr/>
                    <a:lstStyle/>
                    <a:p>
                      <a:pPr algn="l" indent="0" marL="0">
                        <a:buNone/>
                      </a:pPr>
                      <a:r>
                        <a:rPr lang="en-US" sz="900" spc="-18" kern="0" dirty="0">
                          <a:solidFill>
                            <a:srgbClr val="2B2E3C"/>
                          </a:solidFill>
                          <a:latin typeface="Open Sans" pitchFamily="34" charset="0"/>
                          <a:ea typeface="Open Sans" pitchFamily="34" charset="-122"/>
                          <a:cs typeface="Open Sans" pitchFamily="34" charset="-120"/>
                        </a:rPr>
                        <a:t>4</a:t>
                      </a:r>
                      <a:endParaRPr lang="en-US" sz="900" dirty="0">
                        <a:latin typeface="Open Sans" charset="0"/>
                        <a:ea typeface="Open Sans" charset="0"/>
                        <a:cs typeface="Open Sans" charset="0"/>
                      </a:endParaRPr>
                    </a:p>
                  </a:txBody>
                  <a:tcPr marL="115183" marR="115183" marT="6350" marB="6350" anchor="ctr">
                    <a:lnL w="12700" cap="flat" cmpd="sng" algn="ctr">
                      <a:solidFill>
                        <a:srgbClr val="F5EEE6"/>
                      </a:solidFill>
                      <a:prstDash val="solid"/>
                      <a:round/>
                      <a:headEnd type="none" w="med" len="med"/>
                      <a:tailEnd type="none" w="med" len="med"/>
                    </a:lnL>
                    <a:lnR w="12700" cap="flat" cmpd="sng" algn="ctr">
                      <a:solidFill>
                        <a:srgbClr val="F5EEE6"/>
                      </a:solidFill>
                      <a:prstDash val="solid"/>
                      <a:round/>
                      <a:headEnd type="none" w="med" len="med"/>
                      <a:tailEnd type="none" w="med" len="med"/>
                    </a:lnR>
                    <a:lnT w="12700" cap="flat" cmpd="sng" algn="ctr">
                      <a:solidFill>
                        <a:srgbClr val="F5EEE6"/>
                      </a:solidFill>
                      <a:prstDash val="solid"/>
                      <a:round/>
                      <a:headEnd type="none" w="med" len="med"/>
                      <a:tailEnd type="none" w="med" len="med"/>
                    </a:lnT>
                    <a:lnB w="12700" cap="flat" cmpd="sng" algn="ctr">
                      <a:solidFill>
                        <a:srgbClr val="F5EEE6"/>
                      </a:solidFill>
                      <a:prstDash val="solid"/>
                      <a:round/>
                      <a:headEnd type="none" w="med" len="med"/>
                      <a:tailEnd type="none" w="med" len="med"/>
                    </a:lnB>
                    <a:solidFill>
                      <a:srgbClr val="000000">
                        <a:alpha val="4000"/>
                      </a:srgbClr>
                    </a:solidFill>
                  </a:tcPr>
                </a:tc>
                <a:tc>
                  <a:txBody>
                    <a:bodyPr/>
                    <a:lstStyle/>
                    <a:p>
                      <a:pPr algn="l" indent="0" marL="0">
                        <a:buNone/>
                      </a:pPr>
                      <a:r>
                        <a:rPr lang="en-US" sz="900" spc="-18" kern="0" dirty="0">
                          <a:solidFill>
                            <a:srgbClr val="2B2E3C"/>
                          </a:solidFill>
                          <a:latin typeface="Open Sans" pitchFamily="34" charset="0"/>
                          <a:ea typeface="Open Sans" pitchFamily="34" charset="-122"/>
                          <a:cs typeface="Open Sans" pitchFamily="34" charset="-120"/>
                        </a:rPr>
                        <a:t>/29</a:t>
                      </a:r>
                      <a:endParaRPr lang="en-US" sz="900" dirty="0">
                        <a:latin typeface="Open Sans" charset="0"/>
                        <a:ea typeface="Open Sans" charset="0"/>
                        <a:cs typeface="Open Sans" charset="0"/>
                      </a:endParaRPr>
                    </a:p>
                  </a:txBody>
                  <a:tcPr marL="115183" marR="115183" marT="6350" marB="6350" anchor="ctr">
                    <a:lnL w="12700" cap="flat" cmpd="sng" algn="ctr">
                      <a:solidFill>
                        <a:srgbClr val="F5EEE6"/>
                      </a:solidFill>
                      <a:prstDash val="solid"/>
                      <a:round/>
                      <a:headEnd type="none" w="med" len="med"/>
                      <a:tailEnd type="none" w="med" len="med"/>
                    </a:lnL>
                    <a:lnR w="12700" cap="flat" cmpd="sng" algn="ctr">
                      <a:solidFill>
                        <a:srgbClr val="F5EEE6"/>
                      </a:solidFill>
                      <a:prstDash val="solid"/>
                      <a:round/>
                      <a:headEnd type="none" w="med" len="med"/>
                      <a:tailEnd type="none" w="med" len="med"/>
                    </a:lnR>
                    <a:lnT w="12700" cap="flat" cmpd="sng" algn="ctr">
                      <a:solidFill>
                        <a:srgbClr val="F5EEE6"/>
                      </a:solidFill>
                      <a:prstDash val="solid"/>
                      <a:round/>
                      <a:headEnd type="none" w="med" len="med"/>
                      <a:tailEnd type="none" w="med" len="med"/>
                    </a:lnT>
                    <a:lnB w="12700" cap="flat" cmpd="sng" algn="ctr">
                      <a:solidFill>
                        <a:srgbClr val="F5EEE6"/>
                      </a:solidFill>
                      <a:prstDash val="solid"/>
                      <a:round/>
                      <a:headEnd type="none" w="med" len="med"/>
                      <a:tailEnd type="none" w="med" len="med"/>
                    </a:lnB>
                    <a:solidFill>
                      <a:srgbClr val="000000">
                        <a:alpha val="4000"/>
                      </a:srgbClr>
                    </a:solidFill>
                  </a:tcPr>
                </a:tc>
                <a:tc>
                  <a:txBody>
                    <a:bodyPr/>
                    <a:lstStyle/>
                    <a:p>
                      <a:pPr algn="l" indent="0" marL="0">
                        <a:buNone/>
                      </a:pPr>
                      <a:r>
                        <a:rPr lang="en-US" sz="900" spc="-18" kern="0" dirty="0">
                          <a:solidFill>
                            <a:srgbClr val="2B2E3C"/>
                          </a:solidFill>
                          <a:latin typeface="Open Sans" pitchFamily="34" charset="0"/>
                          <a:ea typeface="Open Sans" pitchFamily="34" charset="-122"/>
                          <a:cs typeface="Open Sans" pitchFamily="34" charset="-120"/>
                        </a:rPr>
                        <a:t>192.168.1.40</a:t>
                      </a:r>
                      <a:endParaRPr lang="en-US" sz="900" dirty="0">
                        <a:latin typeface="Open Sans" charset="0"/>
                        <a:ea typeface="Open Sans" charset="0"/>
                        <a:cs typeface="Open Sans" charset="0"/>
                      </a:endParaRPr>
                    </a:p>
                  </a:txBody>
                  <a:tcPr marL="115183" marR="115183" marT="6350" marB="6350" anchor="ctr">
                    <a:lnL w="12700" cap="flat" cmpd="sng" algn="ctr">
                      <a:solidFill>
                        <a:srgbClr val="F5EEE6"/>
                      </a:solidFill>
                      <a:prstDash val="solid"/>
                      <a:round/>
                      <a:headEnd type="none" w="med" len="med"/>
                      <a:tailEnd type="none" w="med" len="med"/>
                    </a:lnL>
                    <a:lnR w="12700" cap="flat" cmpd="sng" algn="ctr">
                      <a:solidFill>
                        <a:srgbClr val="E2C8B5"/>
                      </a:solidFill>
                      <a:prstDash val="solid"/>
                      <a:round/>
                      <a:headEnd type="none" w="med" len="med"/>
                      <a:tailEnd type="none" w="med" len="med"/>
                    </a:lnR>
                    <a:lnT w="12700" cap="flat" cmpd="sng" algn="ctr">
                      <a:solidFill>
                        <a:srgbClr val="F5EEE6"/>
                      </a:solidFill>
                      <a:prstDash val="solid"/>
                      <a:round/>
                      <a:headEnd type="none" w="med" len="med"/>
                      <a:tailEnd type="none" w="med" len="med"/>
                    </a:lnT>
                    <a:lnB w="12700" cap="flat" cmpd="sng" algn="ctr">
                      <a:solidFill>
                        <a:srgbClr val="F5EEE6"/>
                      </a:solidFill>
                      <a:prstDash val="solid"/>
                      <a:round/>
                      <a:headEnd type="none" w="med" len="med"/>
                      <a:tailEnd type="none" w="med" len="med"/>
                    </a:lnB>
                    <a:solidFill>
                      <a:srgbClr val="000000">
                        <a:alpha val="4000"/>
                      </a:srgbClr>
                    </a:solidFill>
                  </a:tcPr>
                </a:tc>
              </a:tr>
              <a:tr h="245064">
                <a:tc>
                  <a:txBody>
                    <a:bodyPr/>
                    <a:lstStyle/>
                    <a:p>
                      <a:pPr algn="l" indent="0" marL="0">
                        <a:buNone/>
                      </a:pPr>
                      <a:r>
                        <a:rPr lang="en-US" sz="900" spc="-18" kern="0" dirty="0">
                          <a:solidFill>
                            <a:srgbClr val="2B2E3C"/>
                          </a:solidFill>
                          <a:latin typeface="Open Sans" pitchFamily="34" charset="0"/>
                          <a:ea typeface="Open Sans" pitchFamily="34" charset="-122"/>
                          <a:cs typeface="Open Sans" pitchFamily="34" charset="-120"/>
                        </a:rPr>
                        <a:t>Layer 2 Sec Right</a:t>
                      </a:r>
                      <a:endParaRPr lang="en-US" sz="900" dirty="0">
                        <a:latin typeface="Open Sans" charset="0"/>
                        <a:ea typeface="Open Sans" charset="0"/>
                        <a:cs typeface="Open Sans" charset="0"/>
                      </a:endParaRPr>
                    </a:p>
                  </a:txBody>
                  <a:tcPr marL="115183" marR="115183" marT="6350" marB="6350" anchor="ctr">
                    <a:lnL w="12700" cap="flat" cmpd="sng" algn="ctr">
                      <a:solidFill>
                        <a:srgbClr val="E2C8B5"/>
                      </a:solidFill>
                      <a:prstDash val="solid"/>
                      <a:round/>
                      <a:headEnd type="none" w="med" len="med"/>
                      <a:tailEnd type="none" w="med" len="med"/>
                    </a:lnL>
                    <a:lnR w="12700" cap="flat" cmpd="sng" algn="ctr">
                      <a:solidFill>
                        <a:srgbClr val="FFF8F1"/>
                      </a:solidFill>
                      <a:prstDash val="solid"/>
                      <a:round/>
                      <a:headEnd type="none" w="med" len="med"/>
                      <a:tailEnd type="none" w="med" len="med"/>
                    </a:lnR>
                    <a:lnT w="12700" cap="flat" cmpd="sng" algn="ctr">
                      <a:solidFill>
                        <a:srgbClr val="FFF8F1"/>
                      </a:solidFill>
                      <a:prstDash val="solid"/>
                      <a:round/>
                      <a:headEnd type="none" w="med" len="med"/>
                      <a:tailEnd type="none" w="med" len="med"/>
                    </a:lnT>
                    <a:lnB w="12700" cap="flat" cmpd="sng" algn="ctr">
                      <a:solidFill>
                        <a:srgbClr val="FFF8F1"/>
                      </a:solidFill>
                      <a:prstDash val="solid"/>
                      <a:round/>
                      <a:headEnd type="none" w="med" len="med"/>
                      <a:tailEnd type="none" w="med" len="med"/>
                    </a:lnB>
                    <a:solidFill>
                      <a:srgbClr val="FFFFFF">
                        <a:alpha val="4000"/>
                      </a:srgbClr>
                    </a:solidFill>
                  </a:tcPr>
                </a:tc>
                <a:tc>
                  <a:txBody>
                    <a:bodyPr/>
                    <a:lstStyle/>
                    <a:p>
                      <a:pPr algn="l" indent="0" marL="0">
                        <a:buNone/>
                      </a:pPr>
                      <a:r>
                        <a:rPr lang="en-US" sz="900" spc="-18" kern="0" dirty="0">
                          <a:solidFill>
                            <a:srgbClr val="2B2E3C"/>
                          </a:solidFill>
                          <a:latin typeface="Open Sans" pitchFamily="34" charset="0"/>
                          <a:ea typeface="Open Sans" pitchFamily="34" charset="-122"/>
                          <a:cs typeface="Open Sans" pitchFamily="34" charset="-120"/>
                        </a:rPr>
                        <a:t>4</a:t>
                      </a:r>
                      <a:endParaRPr lang="en-US" sz="900" dirty="0">
                        <a:latin typeface="Open Sans" charset="0"/>
                        <a:ea typeface="Open Sans" charset="0"/>
                        <a:cs typeface="Open Sans" charset="0"/>
                      </a:endParaRPr>
                    </a:p>
                  </a:txBody>
                  <a:tcPr marL="115183" marR="115183" marT="6350" marB="6350" anchor="ctr">
                    <a:lnL w="12700" cap="flat" cmpd="sng" algn="ctr">
                      <a:solidFill>
                        <a:srgbClr val="FFF8F1"/>
                      </a:solidFill>
                      <a:prstDash val="solid"/>
                      <a:round/>
                      <a:headEnd type="none" w="med" len="med"/>
                      <a:tailEnd type="none" w="med" len="med"/>
                    </a:lnL>
                    <a:lnR w="12700" cap="flat" cmpd="sng" algn="ctr">
                      <a:solidFill>
                        <a:srgbClr val="FFF8F1"/>
                      </a:solidFill>
                      <a:prstDash val="solid"/>
                      <a:round/>
                      <a:headEnd type="none" w="med" len="med"/>
                      <a:tailEnd type="none" w="med" len="med"/>
                    </a:lnR>
                    <a:lnT w="12700" cap="flat" cmpd="sng" algn="ctr">
                      <a:solidFill>
                        <a:srgbClr val="FFF8F1"/>
                      </a:solidFill>
                      <a:prstDash val="solid"/>
                      <a:round/>
                      <a:headEnd type="none" w="med" len="med"/>
                      <a:tailEnd type="none" w="med" len="med"/>
                    </a:lnT>
                    <a:lnB w="12700" cap="flat" cmpd="sng" algn="ctr">
                      <a:solidFill>
                        <a:srgbClr val="FFF8F1"/>
                      </a:solidFill>
                      <a:prstDash val="solid"/>
                      <a:round/>
                      <a:headEnd type="none" w="med" len="med"/>
                      <a:tailEnd type="none" w="med" len="med"/>
                    </a:lnB>
                    <a:solidFill>
                      <a:srgbClr val="FFFFFF">
                        <a:alpha val="4000"/>
                      </a:srgbClr>
                    </a:solidFill>
                  </a:tcPr>
                </a:tc>
                <a:tc>
                  <a:txBody>
                    <a:bodyPr/>
                    <a:lstStyle/>
                    <a:p>
                      <a:pPr algn="l" indent="0" marL="0">
                        <a:buNone/>
                      </a:pPr>
                      <a:r>
                        <a:rPr lang="en-US" sz="900" spc="-18" kern="0" dirty="0">
                          <a:solidFill>
                            <a:srgbClr val="2B2E3C"/>
                          </a:solidFill>
                          <a:latin typeface="Open Sans" pitchFamily="34" charset="0"/>
                          <a:ea typeface="Open Sans" pitchFamily="34" charset="-122"/>
                          <a:cs typeface="Open Sans" pitchFamily="34" charset="-120"/>
                        </a:rPr>
                        <a:t>/29</a:t>
                      </a:r>
                      <a:endParaRPr lang="en-US" sz="900" dirty="0">
                        <a:latin typeface="Open Sans" charset="0"/>
                        <a:ea typeface="Open Sans" charset="0"/>
                        <a:cs typeface="Open Sans" charset="0"/>
                      </a:endParaRPr>
                    </a:p>
                  </a:txBody>
                  <a:tcPr marL="115183" marR="115183" marT="6350" marB="6350" anchor="ctr">
                    <a:lnL w="12700" cap="flat" cmpd="sng" algn="ctr">
                      <a:solidFill>
                        <a:srgbClr val="FFF8F1"/>
                      </a:solidFill>
                      <a:prstDash val="solid"/>
                      <a:round/>
                      <a:headEnd type="none" w="med" len="med"/>
                      <a:tailEnd type="none" w="med" len="med"/>
                    </a:lnL>
                    <a:lnR w="12700" cap="flat" cmpd="sng" algn="ctr">
                      <a:solidFill>
                        <a:srgbClr val="FFF8F1"/>
                      </a:solidFill>
                      <a:prstDash val="solid"/>
                      <a:round/>
                      <a:headEnd type="none" w="med" len="med"/>
                      <a:tailEnd type="none" w="med" len="med"/>
                    </a:lnR>
                    <a:lnT w="12700" cap="flat" cmpd="sng" algn="ctr">
                      <a:solidFill>
                        <a:srgbClr val="FFF8F1"/>
                      </a:solidFill>
                      <a:prstDash val="solid"/>
                      <a:round/>
                      <a:headEnd type="none" w="med" len="med"/>
                      <a:tailEnd type="none" w="med" len="med"/>
                    </a:lnT>
                    <a:lnB w="12700" cap="flat" cmpd="sng" algn="ctr">
                      <a:solidFill>
                        <a:srgbClr val="FFF8F1"/>
                      </a:solidFill>
                      <a:prstDash val="solid"/>
                      <a:round/>
                      <a:headEnd type="none" w="med" len="med"/>
                      <a:tailEnd type="none" w="med" len="med"/>
                    </a:lnB>
                    <a:solidFill>
                      <a:srgbClr val="FFFFFF">
                        <a:alpha val="4000"/>
                      </a:srgbClr>
                    </a:solidFill>
                  </a:tcPr>
                </a:tc>
                <a:tc>
                  <a:txBody>
                    <a:bodyPr/>
                    <a:lstStyle/>
                    <a:p>
                      <a:pPr algn="l" indent="0" marL="0">
                        <a:buNone/>
                      </a:pPr>
                      <a:r>
                        <a:rPr lang="en-US" sz="900" spc="-18" kern="0" dirty="0">
                          <a:solidFill>
                            <a:srgbClr val="2B2E3C"/>
                          </a:solidFill>
                          <a:latin typeface="Open Sans" pitchFamily="34" charset="0"/>
                          <a:ea typeface="Open Sans" pitchFamily="34" charset="-122"/>
                          <a:cs typeface="Open Sans" pitchFamily="34" charset="-120"/>
                        </a:rPr>
                        <a:t>192.168.1.48</a:t>
                      </a:r>
                      <a:endParaRPr lang="en-US" sz="900" dirty="0">
                        <a:latin typeface="Open Sans" charset="0"/>
                        <a:ea typeface="Open Sans" charset="0"/>
                        <a:cs typeface="Open Sans" charset="0"/>
                      </a:endParaRPr>
                    </a:p>
                  </a:txBody>
                  <a:tcPr marL="115183" marR="115183" marT="6350" marB="6350" anchor="ctr">
                    <a:lnL w="12700" cap="flat" cmpd="sng" algn="ctr">
                      <a:solidFill>
                        <a:srgbClr val="FFF8F1"/>
                      </a:solidFill>
                      <a:prstDash val="solid"/>
                      <a:round/>
                      <a:headEnd type="none" w="med" len="med"/>
                      <a:tailEnd type="none" w="med" len="med"/>
                    </a:lnL>
                    <a:lnR w="12700" cap="flat" cmpd="sng" algn="ctr">
                      <a:solidFill>
                        <a:srgbClr val="E2C8B5"/>
                      </a:solidFill>
                      <a:prstDash val="solid"/>
                      <a:round/>
                      <a:headEnd type="none" w="med" len="med"/>
                      <a:tailEnd type="none" w="med" len="med"/>
                    </a:lnR>
                    <a:lnT w="12700" cap="flat" cmpd="sng" algn="ctr">
                      <a:solidFill>
                        <a:srgbClr val="FFF8F1"/>
                      </a:solidFill>
                      <a:prstDash val="solid"/>
                      <a:round/>
                      <a:headEnd type="none" w="med" len="med"/>
                      <a:tailEnd type="none" w="med" len="med"/>
                    </a:lnT>
                    <a:lnB w="12700" cap="flat" cmpd="sng" algn="ctr">
                      <a:solidFill>
                        <a:srgbClr val="FFF8F1"/>
                      </a:solidFill>
                      <a:prstDash val="solid"/>
                      <a:round/>
                      <a:headEnd type="none" w="med" len="med"/>
                      <a:tailEnd type="none" w="med" len="med"/>
                    </a:lnB>
                    <a:solidFill>
                      <a:srgbClr val="FFFFFF">
                        <a:alpha val="4000"/>
                      </a:srgbClr>
                    </a:solidFill>
                  </a:tcPr>
                </a:tc>
              </a:tr>
              <a:tr h="245064">
                <a:tc>
                  <a:txBody>
                    <a:bodyPr/>
                    <a:lstStyle/>
                    <a:p>
                      <a:pPr algn="l" indent="0" marL="0">
                        <a:buNone/>
                      </a:pPr>
                      <a:r>
                        <a:rPr lang="en-US" sz="900" spc="-18" kern="0" dirty="0">
                          <a:solidFill>
                            <a:srgbClr val="2B2E3C"/>
                          </a:solidFill>
                          <a:latin typeface="Open Sans" pitchFamily="34" charset="0"/>
                          <a:ea typeface="Open Sans" pitchFamily="34" charset="-122"/>
                          <a:cs typeface="Open Sans" pitchFamily="34" charset="-120"/>
                        </a:rPr>
                        <a:t>ZPF</a:t>
                      </a:r>
                      <a:endParaRPr lang="en-US" sz="900" dirty="0">
                        <a:latin typeface="Open Sans" charset="0"/>
                        <a:ea typeface="Open Sans" charset="0"/>
                        <a:cs typeface="Open Sans" charset="0"/>
                      </a:endParaRPr>
                    </a:p>
                  </a:txBody>
                  <a:tcPr marL="115183" marR="115183" marT="6350" marB="6350" anchor="ctr">
                    <a:lnL w="12700" cap="flat" cmpd="sng" algn="ctr">
                      <a:solidFill>
                        <a:srgbClr val="E2C8B5"/>
                      </a:solidFill>
                      <a:prstDash val="solid"/>
                      <a:round/>
                      <a:headEnd type="none" w="med" len="med"/>
                      <a:tailEnd type="none" w="med" len="med"/>
                    </a:lnL>
                    <a:lnR w="12700" cap="flat" cmpd="sng" algn="ctr">
                      <a:solidFill>
                        <a:srgbClr val="F5EEE6"/>
                      </a:solidFill>
                      <a:prstDash val="solid"/>
                      <a:round/>
                      <a:headEnd type="none" w="med" len="med"/>
                      <a:tailEnd type="none" w="med" len="med"/>
                    </a:lnR>
                    <a:lnT w="12700" cap="flat" cmpd="sng" algn="ctr">
                      <a:solidFill>
                        <a:srgbClr val="F5EEE6"/>
                      </a:solidFill>
                      <a:prstDash val="solid"/>
                      <a:round/>
                      <a:headEnd type="none" w="med" len="med"/>
                      <a:tailEnd type="none" w="med" len="med"/>
                    </a:lnT>
                    <a:lnB w="12700" cap="flat" cmpd="sng" algn="ctr">
                      <a:solidFill>
                        <a:srgbClr val="F5EEE6"/>
                      </a:solidFill>
                      <a:prstDash val="solid"/>
                      <a:round/>
                      <a:headEnd type="none" w="med" len="med"/>
                      <a:tailEnd type="none" w="med" len="med"/>
                    </a:lnB>
                    <a:solidFill>
                      <a:srgbClr val="000000">
                        <a:alpha val="4000"/>
                      </a:srgbClr>
                    </a:solidFill>
                  </a:tcPr>
                </a:tc>
                <a:tc>
                  <a:txBody>
                    <a:bodyPr/>
                    <a:lstStyle/>
                    <a:p>
                      <a:pPr algn="l" indent="0" marL="0">
                        <a:buNone/>
                      </a:pPr>
                      <a:r>
                        <a:rPr lang="en-US" sz="900" spc="-18" kern="0" dirty="0">
                          <a:solidFill>
                            <a:srgbClr val="2B2E3C"/>
                          </a:solidFill>
                          <a:latin typeface="Open Sans" pitchFamily="34" charset="0"/>
                          <a:ea typeface="Open Sans" pitchFamily="34" charset="-122"/>
                          <a:cs typeface="Open Sans" pitchFamily="34" charset="-120"/>
                        </a:rPr>
                        <a:t>4</a:t>
                      </a:r>
                      <a:endParaRPr lang="en-US" sz="900" dirty="0">
                        <a:latin typeface="Open Sans" charset="0"/>
                        <a:ea typeface="Open Sans" charset="0"/>
                        <a:cs typeface="Open Sans" charset="0"/>
                      </a:endParaRPr>
                    </a:p>
                  </a:txBody>
                  <a:tcPr marL="115183" marR="115183" marT="6350" marB="6350" anchor="ctr">
                    <a:lnL w="12700" cap="flat" cmpd="sng" algn="ctr">
                      <a:solidFill>
                        <a:srgbClr val="F5EEE6"/>
                      </a:solidFill>
                      <a:prstDash val="solid"/>
                      <a:round/>
                      <a:headEnd type="none" w="med" len="med"/>
                      <a:tailEnd type="none" w="med" len="med"/>
                    </a:lnL>
                    <a:lnR w="12700" cap="flat" cmpd="sng" algn="ctr">
                      <a:solidFill>
                        <a:srgbClr val="F5EEE6"/>
                      </a:solidFill>
                      <a:prstDash val="solid"/>
                      <a:round/>
                      <a:headEnd type="none" w="med" len="med"/>
                      <a:tailEnd type="none" w="med" len="med"/>
                    </a:lnR>
                    <a:lnT w="12700" cap="flat" cmpd="sng" algn="ctr">
                      <a:solidFill>
                        <a:srgbClr val="F5EEE6"/>
                      </a:solidFill>
                      <a:prstDash val="solid"/>
                      <a:round/>
                      <a:headEnd type="none" w="med" len="med"/>
                      <a:tailEnd type="none" w="med" len="med"/>
                    </a:lnT>
                    <a:lnB w="12700" cap="flat" cmpd="sng" algn="ctr">
                      <a:solidFill>
                        <a:srgbClr val="F5EEE6"/>
                      </a:solidFill>
                      <a:prstDash val="solid"/>
                      <a:round/>
                      <a:headEnd type="none" w="med" len="med"/>
                      <a:tailEnd type="none" w="med" len="med"/>
                    </a:lnB>
                    <a:solidFill>
                      <a:srgbClr val="000000">
                        <a:alpha val="4000"/>
                      </a:srgbClr>
                    </a:solidFill>
                  </a:tcPr>
                </a:tc>
                <a:tc>
                  <a:txBody>
                    <a:bodyPr/>
                    <a:lstStyle/>
                    <a:p>
                      <a:pPr algn="l" indent="0" marL="0">
                        <a:buNone/>
                      </a:pPr>
                      <a:r>
                        <a:rPr lang="en-US" sz="900" spc="-18" kern="0" dirty="0">
                          <a:solidFill>
                            <a:srgbClr val="2B2E3C"/>
                          </a:solidFill>
                          <a:latin typeface="Open Sans" pitchFamily="34" charset="0"/>
                          <a:ea typeface="Open Sans" pitchFamily="34" charset="-122"/>
                          <a:cs typeface="Open Sans" pitchFamily="34" charset="-120"/>
                        </a:rPr>
                        <a:t>/29</a:t>
                      </a:r>
                      <a:endParaRPr lang="en-US" sz="900" dirty="0">
                        <a:latin typeface="Open Sans" charset="0"/>
                        <a:ea typeface="Open Sans" charset="0"/>
                        <a:cs typeface="Open Sans" charset="0"/>
                      </a:endParaRPr>
                    </a:p>
                  </a:txBody>
                  <a:tcPr marL="115183" marR="115183" marT="6350" marB="6350" anchor="ctr">
                    <a:lnL w="12700" cap="flat" cmpd="sng" algn="ctr">
                      <a:solidFill>
                        <a:srgbClr val="F5EEE6"/>
                      </a:solidFill>
                      <a:prstDash val="solid"/>
                      <a:round/>
                      <a:headEnd type="none" w="med" len="med"/>
                      <a:tailEnd type="none" w="med" len="med"/>
                    </a:lnL>
                    <a:lnR w="12700" cap="flat" cmpd="sng" algn="ctr">
                      <a:solidFill>
                        <a:srgbClr val="F5EEE6"/>
                      </a:solidFill>
                      <a:prstDash val="solid"/>
                      <a:round/>
                      <a:headEnd type="none" w="med" len="med"/>
                      <a:tailEnd type="none" w="med" len="med"/>
                    </a:lnR>
                    <a:lnT w="12700" cap="flat" cmpd="sng" algn="ctr">
                      <a:solidFill>
                        <a:srgbClr val="F5EEE6"/>
                      </a:solidFill>
                      <a:prstDash val="solid"/>
                      <a:round/>
                      <a:headEnd type="none" w="med" len="med"/>
                      <a:tailEnd type="none" w="med" len="med"/>
                    </a:lnT>
                    <a:lnB w="12700" cap="flat" cmpd="sng" algn="ctr">
                      <a:solidFill>
                        <a:srgbClr val="F5EEE6"/>
                      </a:solidFill>
                      <a:prstDash val="solid"/>
                      <a:round/>
                      <a:headEnd type="none" w="med" len="med"/>
                      <a:tailEnd type="none" w="med" len="med"/>
                    </a:lnB>
                    <a:solidFill>
                      <a:srgbClr val="000000">
                        <a:alpha val="4000"/>
                      </a:srgbClr>
                    </a:solidFill>
                  </a:tcPr>
                </a:tc>
                <a:tc>
                  <a:txBody>
                    <a:bodyPr/>
                    <a:lstStyle/>
                    <a:p>
                      <a:pPr algn="l" indent="0" marL="0">
                        <a:buNone/>
                      </a:pPr>
                      <a:r>
                        <a:rPr lang="en-US" sz="900" spc="-18" kern="0" dirty="0">
                          <a:solidFill>
                            <a:srgbClr val="2B2E3C"/>
                          </a:solidFill>
                          <a:latin typeface="Open Sans" pitchFamily="34" charset="0"/>
                          <a:ea typeface="Open Sans" pitchFamily="34" charset="-122"/>
                          <a:cs typeface="Open Sans" pitchFamily="34" charset="-120"/>
                        </a:rPr>
                        <a:t>192.168.1.56</a:t>
                      </a:r>
                      <a:endParaRPr lang="en-US" sz="900" dirty="0">
                        <a:latin typeface="Open Sans" charset="0"/>
                        <a:ea typeface="Open Sans" charset="0"/>
                        <a:cs typeface="Open Sans" charset="0"/>
                      </a:endParaRPr>
                    </a:p>
                  </a:txBody>
                  <a:tcPr marL="115183" marR="115183" marT="6350" marB="6350" anchor="ctr">
                    <a:lnL w="12700" cap="flat" cmpd="sng" algn="ctr">
                      <a:solidFill>
                        <a:srgbClr val="F5EEE6"/>
                      </a:solidFill>
                      <a:prstDash val="solid"/>
                      <a:round/>
                      <a:headEnd type="none" w="med" len="med"/>
                      <a:tailEnd type="none" w="med" len="med"/>
                    </a:lnL>
                    <a:lnR w="12700" cap="flat" cmpd="sng" algn="ctr">
                      <a:solidFill>
                        <a:srgbClr val="E2C8B5"/>
                      </a:solidFill>
                      <a:prstDash val="solid"/>
                      <a:round/>
                      <a:headEnd type="none" w="med" len="med"/>
                      <a:tailEnd type="none" w="med" len="med"/>
                    </a:lnR>
                    <a:lnT w="12700" cap="flat" cmpd="sng" algn="ctr">
                      <a:solidFill>
                        <a:srgbClr val="F5EEE6"/>
                      </a:solidFill>
                      <a:prstDash val="solid"/>
                      <a:round/>
                      <a:headEnd type="none" w="med" len="med"/>
                      <a:tailEnd type="none" w="med" len="med"/>
                    </a:lnT>
                    <a:lnB w="12700" cap="flat" cmpd="sng" algn="ctr">
                      <a:solidFill>
                        <a:srgbClr val="F5EEE6"/>
                      </a:solidFill>
                      <a:prstDash val="solid"/>
                      <a:round/>
                      <a:headEnd type="none" w="med" len="med"/>
                      <a:tailEnd type="none" w="med" len="med"/>
                    </a:lnB>
                    <a:solidFill>
                      <a:srgbClr val="000000">
                        <a:alpha val="4000"/>
                      </a:srgbClr>
                    </a:solidFill>
                  </a:tcPr>
                </a:tc>
              </a:tr>
              <a:tr h="245064">
                <a:tc>
                  <a:txBody>
                    <a:bodyPr/>
                    <a:lstStyle/>
                    <a:p>
                      <a:pPr algn="l" indent="0" marL="0">
                        <a:buNone/>
                      </a:pPr>
                      <a:r>
                        <a:rPr lang="en-US" sz="900" spc="-18" kern="0" dirty="0">
                          <a:solidFill>
                            <a:srgbClr val="2B2E3C"/>
                          </a:solidFill>
                          <a:latin typeface="Open Sans" pitchFamily="34" charset="0"/>
                          <a:ea typeface="Open Sans" pitchFamily="34" charset="-122"/>
                          <a:cs typeface="Open Sans" pitchFamily="34" charset="-120"/>
                        </a:rPr>
                        <a:t>INSIDE</a:t>
                      </a:r>
                      <a:endParaRPr lang="en-US" sz="900" dirty="0">
                        <a:latin typeface="Open Sans" charset="0"/>
                        <a:ea typeface="Open Sans" charset="0"/>
                        <a:cs typeface="Open Sans" charset="0"/>
                      </a:endParaRPr>
                    </a:p>
                  </a:txBody>
                  <a:tcPr marL="115183" marR="115183" marT="6350" marB="6350" anchor="ctr">
                    <a:lnL w="12700" cap="flat" cmpd="sng" algn="ctr">
                      <a:solidFill>
                        <a:srgbClr val="E2C8B5"/>
                      </a:solidFill>
                      <a:prstDash val="solid"/>
                      <a:round/>
                      <a:headEnd type="none" w="med" len="med"/>
                      <a:tailEnd type="none" w="med" len="med"/>
                    </a:lnL>
                    <a:lnR w="12700" cap="flat" cmpd="sng" algn="ctr">
                      <a:solidFill>
                        <a:srgbClr val="FFF8F1"/>
                      </a:solidFill>
                      <a:prstDash val="solid"/>
                      <a:round/>
                      <a:headEnd type="none" w="med" len="med"/>
                      <a:tailEnd type="none" w="med" len="med"/>
                    </a:lnR>
                    <a:lnT w="12700" cap="flat" cmpd="sng" algn="ctr">
                      <a:solidFill>
                        <a:srgbClr val="FFF8F1"/>
                      </a:solidFill>
                      <a:prstDash val="solid"/>
                      <a:round/>
                      <a:headEnd type="none" w="med" len="med"/>
                      <a:tailEnd type="none" w="med" len="med"/>
                    </a:lnT>
                    <a:lnB w="12700" cap="flat" cmpd="sng" algn="ctr">
                      <a:solidFill>
                        <a:srgbClr val="FFF8F1"/>
                      </a:solidFill>
                      <a:prstDash val="solid"/>
                      <a:round/>
                      <a:headEnd type="none" w="med" len="med"/>
                      <a:tailEnd type="none" w="med" len="med"/>
                    </a:lnB>
                    <a:solidFill>
                      <a:srgbClr val="FFFFFF">
                        <a:alpha val="4000"/>
                      </a:srgbClr>
                    </a:solidFill>
                  </a:tcPr>
                </a:tc>
                <a:tc>
                  <a:txBody>
                    <a:bodyPr/>
                    <a:lstStyle/>
                    <a:p>
                      <a:pPr algn="l" indent="0" marL="0">
                        <a:buNone/>
                      </a:pPr>
                      <a:r>
                        <a:rPr lang="en-US" sz="900" spc="-18" kern="0" dirty="0">
                          <a:solidFill>
                            <a:srgbClr val="2B2E3C"/>
                          </a:solidFill>
                          <a:latin typeface="Open Sans" pitchFamily="34" charset="0"/>
                          <a:ea typeface="Open Sans" pitchFamily="34" charset="-122"/>
                          <a:cs typeface="Open Sans" pitchFamily="34" charset="-120"/>
                        </a:rPr>
                        <a:t>4</a:t>
                      </a:r>
                      <a:endParaRPr lang="en-US" sz="900" dirty="0">
                        <a:latin typeface="Open Sans" charset="0"/>
                        <a:ea typeface="Open Sans" charset="0"/>
                        <a:cs typeface="Open Sans" charset="0"/>
                      </a:endParaRPr>
                    </a:p>
                  </a:txBody>
                  <a:tcPr marL="115183" marR="115183" marT="6350" marB="6350" anchor="ctr">
                    <a:lnL w="12700" cap="flat" cmpd="sng" algn="ctr">
                      <a:solidFill>
                        <a:srgbClr val="FFF8F1"/>
                      </a:solidFill>
                      <a:prstDash val="solid"/>
                      <a:round/>
                      <a:headEnd type="none" w="med" len="med"/>
                      <a:tailEnd type="none" w="med" len="med"/>
                    </a:lnL>
                    <a:lnR w="12700" cap="flat" cmpd="sng" algn="ctr">
                      <a:solidFill>
                        <a:srgbClr val="FFF8F1"/>
                      </a:solidFill>
                      <a:prstDash val="solid"/>
                      <a:round/>
                      <a:headEnd type="none" w="med" len="med"/>
                      <a:tailEnd type="none" w="med" len="med"/>
                    </a:lnR>
                    <a:lnT w="12700" cap="flat" cmpd="sng" algn="ctr">
                      <a:solidFill>
                        <a:srgbClr val="FFF8F1"/>
                      </a:solidFill>
                      <a:prstDash val="solid"/>
                      <a:round/>
                      <a:headEnd type="none" w="med" len="med"/>
                      <a:tailEnd type="none" w="med" len="med"/>
                    </a:lnT>
                    <a:lnB w="12700" cap="flat" cmpd="sng" algn="ctr">
                      <a:solidFill>
                        <a:srgbClr val="FFF8F1"/>
                      </a:solidFill>
                      <a:prstDash val="solid"/>
                      <a:round/>
                      <a:headEnd type="none" w="med" len="med"/>
                      <a:tailEnd type="none" w="med" len="med"/>
                    </a:lnB>
                    <a:solidFill>
                      <a:srgbClr val="FFFFFF">
                        <a:alpha val="4000"/>
                      </a:srgbClr>
                    </a:solidFill>
                  </a:tcPr>
                </a:tc>
                <a:tc>
                  <a:txBody>
                    <a:bodyPr/>
                    <a:lstStyle/>
                    <a:p>
                      <a:pPr algn="l" indent="0" marL="0">
                        <a:buNone/>
                      </a:pPr>
                      <a:r>
                        <a:rPr lang="en-US" sz="900" spc="-18" kern="0" dirty="0">
                          <a:solidFill>
                            <a:srgbClr val="2B2E3C"/>
                          </a:solidFill>
                          <a:latin typeface="Open Sans" pitchFamily="34" charset="0"/>
                          <a:ea typeface="Open Sans" pitchFamily="34" charset="-122"/>
                          <a:cs typeface="Open Sans" pitchFamily="34" charset="-120"/>
                        </a:rPr>
                        <a:t>/29</a:t>
                      </a:r>
                      <a:endParaRPr lang="en-US" sz="900" dirty="0">
                        <a:latin typeface="Open Sans" charset="0"/>
                        <a:ea typeface="Open Sans" charset="0"/>
                        <a:cs typeface="Open Sans" charset="0"/>
                      </a:endParaRPr>
                    </a:p>
                  </a:txBody>
                  <a:tcPr marL="115183" marR="115183" marT="6350" marB="6350" anchor="ctr">
                    <a:lnL w="12700" cap="flat" cmpd="sng" algn="ctr">
                      <a:solidFill>
                        <a:srgbClr val="FFF8F1"/>
                      </a:solidFill>
                      <a:prstDash val="solid"/>
                      <a:round/>
                      <a:headEnd type="none" w="med" len="med"/>
                      <a:tailEnd type="none" w="med" len="med"/>
                    </a:lnL>
                    <a:lnR w="12700" cap="flat" cmpd="sng" algn="ctr">
                      <a:solidFill>
                        <a:srgbClr val="FFF8F1"/>
                      </a:solidFill>
                      <a:prstDash val="solid"/>
                      <a:round/>
                      <a:headEnd type="none" w="med" len="med"/>
                      <a:tailEnd type="none" w="med" len="med"/>
                    </a:lnR>
                    <a:lnT w="12700" cap="flat" cmpd="sng" algn="ctr">
                      <a:solidFill>
                        <a:srgbClr val="FFF8F1"/>
                      </a:solidFill>
                      <a:prstDash val="solid"/>
                      <a:round/>
                      <a:headEnd type="none" w="med" len="med"/>
                      <a:tailEnd type="none" w="med" len="med"/>
                    </a:lnT>
                    <a:lnB w="12700" cap="flat" cmpd="sng" algn="ctr">
                      <a:solidFill>
                        <a:srgbClr val="FFF8F1"/>
                      </a:solidFill>
                      <a:prstDash val="solid"/>
                      <a:round/>
                      <a:headEnd type="none" w="med" len="med"/>
                      <a:tailEnd type="none" w="med" len="med"/>
                    </a:lnB>
                    <a:solidFill>
                      <a:srgbClr val="FFFFFF">
                        <a:alpha val="4000"/>
                      </a:srgbClr>
                    </a:solidFill>
                  </a:tcPr>
                </a:tc>
                <a:tc>
                  <a:txBody>
                    <a:bodyPr/>
                    <a:lstStyle/>
                    <a:p>
                      <a:pPr algn="l" indent="0" marL="0">
                        <a:buNone/>
                      </a:pPr>
                      <a:r>
                        <a:rPr lang="en-US" sz="900" spc="-18" kern="0" dirty="0">
                          <a:solidFill>
                            <a:srgbClr val="2B2E3C"/>
                          </a:solidFill>
                          <a:latin typeface="Open Sans" pitchFamily="34" charset="0"/>
                          <a:ea typeface="Open Sans" pitchFamily="34" charset="-122"/>
                          <a:cs typeface="Open Sans" pitchFamily="34" charset="-120"/>
                        </a:rPr>
                        <a:t>192.168.1.64</a:t>
                      </a:r>
                      <a:endParaRPr lang="en-US" sz="900" dirty="0">
                        <a:latin typeface="Open Sans" charset="0"/>
                        <a:ea typeface="Open Sans" charset="0"/>
                        <a:cs typeface="Open Sans" charset="0"/>
                      </a:endParaRPr>
                    </a:p>
                  </a:txBody>
                  <a:tcPr marL="115183" marR="115183" marT="6350" marB="6350" anchor="ctr">
                    <a:lnL w="12700" cap="flat" cmpd="sng" algn="ctr">
                      <a:solidFill>
                        <a:srgbClr val="FFF8F1"/>
                      </a:solidFill>
                      <a:prstDash val="solid"/>
                      <a:round/>
                      <a:headEnd type="none" w="med" len="med"/>
                      <a:tailEnd type="none" w="med" len="med"/>
                    </a:lnL>
                    <a:lnR w="12700" cap="flat" cmpd="sng" algn="ctr">
                      <a:solidFill>
                        <a:srgbClr val="E2C8B5"/>
                      </a:solidFill>
                      <a:prstDash val="solid"/>
                      <a:round/>
                      <a:headEnd type="none" w="med" len="med"/>
                      <a:tailEnd type="none" w="med" len="med"/>
                    </a:lnR>
                    <a:lnT w="12700" cap="flat" cmpd="sng" algn="ctr">
                      <a:solidFill>
                        <a:srgbClr val="FFF8F1"/>
                      </a:solidFill>
                      <a:prstDash val="solid"/>
                      <a:round/>
                      <a:headEnd type="none" w="med" len="med"/>
                      <a:tailEnd type="none" w="med" len="med"/>
                    </a:lnT>
                    <a:lnB w="12700" cap="flat" cmpd="sng" algn="ctr">
                      <a:solidFill>
                        <a:srgbClr val="FFF8F1"/>
                      </a:solidFill>
                      <a:prstDash val="solid"/>
                      <a:round/>
                      <a:headEnd type="none" w="med" len="med"/>
                      <a:tailEnd type="none" w="med" len="med"/>
                    </a:lnB>
                    <a:solidFill>
                      <a:srgbClr val="FFFFFF">
                        <a:alpha val="4000"/>
                      </a:srgbClr>
                    </a:solidFill>
                  </a:tcPr>
                </a:tc>
              </a:tr>
              <a:tr h="245064">
                <a:tc>
                  <a:txBody>
                    <a:bodyPr/>
                    <a:lstStyle/>
                    <a:p>
                      <a:pPr algn="l" indent="0" marL="0">
                        <a:buNone/>
                      </a:pPr>
                      <a:r>
                        <a:rPr lang="en-US" sz="900" spc="-18" kern="0" dirty="0">
                          <a:solidFill>
                            <a:srgbClr val="2B2E3C"/>
                          </a:solidFill>
                          <a:latin typeface="Open Sans" pitchFamily="34" charset="0"/>
                          <a:ea typeface="Open Sans" pitchFamily="34" charset="-122"/>
                          <a:cs typeface="Open Sans" pitchFamily="34" charset="-120"/>
                        </a:rPr>
                        <a:t>VPN RIGHT</a:t>
                      </a:r>
                      <a:endParaRPr lang="en-US" sz="900" dirty="0">
                        <a:latin typeface="Open Sans" charset="0"/>
                        <a:ea typeface="Open Sans" charset="0"/>
                        <a:cs typeface="Open Sans" charset="0"/>
                      </a:endParaRPr>
                    </a:p>
                  </a:txBody>
                  <a:tcPr marL="115183" marR="115183" marT="6350" marB="6350" anchor="ctr">
                    <a:lnL w="12700" cap="flat" cmpd="sng" algn="ctr">
                      <a:solidFill>
                        <a:srgbClr val="E2C8B5"/>
                      </a:solidFill>
                      <a:prstDash val="solid"/>
                      <a:round/>
                      <a:headEnd type="none" w="med" len="med"/>
                      <a:tailEnd type="none" w="med" len="med"/>
                    </a:lnL>
                    <a:lnR w="12700" cap="flat" cmpd="sng" algn="ctr">
                      <a:solidFill>
                        <a:srgbClr val="F5EEE6"/>
                      </a:solidFill>
                      <a:prstDash val="solid"/>
                      <a:round/>
                      <a:headEnd type="none" w="med" len="med"/>
                      <a:tailEnd type="none" w="med" len="med"/>
                    </a:lnR>
                    <a:lnT w="12700" cap="flat" cmpd="sng" algn="ctr">
                      <a:solidFill>
                        <a:srgbClr val="F5EEE6"/>
                      </a:solidFill>
                      <a:prstDash val="solid"/>
                      <a:round/>
                      <a:headEnd type="none" w="med" len="med"/>
                      <a:tailEnd type="none" w="med" len="med"/>
                    </a:lnT>
                    <a:lnB w="12700" cap="flat" cmpd="sng" algn="ctr">
                      <a:solidFill>
                        <a:srgbClr val="F5EEE6"/>
                      </a:solidFill>
                      <a:prstDash val="solid"/>
                      <a:round/>
                      <a:headEnd type="none" w="med" len="med"/>
                      <a:tailEnd type="none" w="med" len="med"/>
                    </a:lnB>
                    <a:solidFill>
                      <a:srgbClr val="000000">
                        <a:alpha val="4000"/>
                      </a:srgbClr>
                    </a:solidFill>
                  </a:tcPr>
                </a:tc>
                <a:tc>
                  <a:txBody>
                    <a:bodyPr/>
                    <a:lstStyle/>
                    <a:p>
                      <a:pPr algn="l" indent="0" marL="0">
                        <a:buNone/>
                      </a:pPr>
                      <a:r>
                        <a:rPr lang="en-US" sz="900" spc="-18" kern="0" dirty="0">
                          <a:solidFill>
                            <a:srgbClr val="2B2E3C"/>
                          </a:solidFill>
                          <a:latin typeface="Open Sans" pitchFamily="34" charset="0"/>
                          <a:ea typeface="Open Sans" pitchFamily="34" charset="-122"/>
                          <a:cs typeface="Open Sans" pitchFamily="34" charset="-120"/>
                        </a:rPr>
                        <a:t>4</a:t>
                      </a:r>
                      <a:endParaRPr lang="en-US" sz="900" dirty="0">
                        <a:latin typeface="Open Sans" charset="0"/>
                        <a:ea typeface="Open Sans" charset="0"/>
                        <a:cs typeface="Open Sans" charset="0"/>
                      </a:endParaRPr>
                    </a:p>
                  </a:txBody>
                  <a:tcPr marL="115183" marR="115183" marT="6350" marB="6350" anchor="ctr">
                    <a:lnL w="12700" cap="flat" cmpd="sng" algn="ctr">
                      <a:solidFill>
                        <a:srgbClr val="F5EEE6"/>
                      </a:solidFill>
                      <a:prstDash val="solid"/>
                      <a:round/>
                      <a:headEnd type="none" w="med" len="med"/>
                      <a:tailEnd type="none" w="med" len="med"/>
                    </a:lnL>
                    <a:lnR w="12700" cap="flat" cmpd="sng" algn="ctr">
                      <a:solidFill>
                        <a:srgbClr val="F5EEE6"/>
                      </a:solidFill>
                      <a:prstDash val="solid"/>
                      <a:round/>
                      <a:headEnd type="none" w="med" len="med"/>
                      <a:tailEnd type="none" w="med" len="med"/>
                    </a:lnR>
                    <a:lnT w="12700" cap="flat" cmpd="sng" algn="ctr">
                      <a:solidFill>
                        <a:srgbClr val="F5EEE6"/>
                      </a:solidFill>
                      <a:prstDash val="solid"/>
                      <a:round/>
                      <a:headEnd type="none" w="med" len="med"/>
                      <a:tailEnd type="none" w="med" len="med"/>
                    </a:lnT>
                    <a:lnB w="12700" cap="flat" cmpd="sng" algn="ctr">
                      <a:solidFill>
                        <a:srgbClr val="F5EEE6"/>
                      </a:solidFill>
                      <a:prstDash val="solid"/>
                      <a:round/>
                      <a:headEnd type="none" w="med" len="med"/>
                      <a:tailEnd type="none" w="med" len="med"/>
                    </a:lnB>
                    <a:solidFill>
                      <a:srgbClr val="000000">
                        <a:alpha val="4000"/>
                      </a:srgbClr>
                    </a:solidFill>
                  </a:tcPr>
                </a:tc>
                <a:tc>
                  <a:txBody>
                    <a:bodyPr/>
                    <a:lstStyle/>
                    <a:p>
                      <a:pPr algn="l" indent="0" marL="0">
                        <a:buNone/>
                      </a:pPr>
                      <a:r>
                        <a:rPr lang="en-US" sz="900" spc="-18" kern="0" dirty="0">
                          <a:solidFill>
                            <a:srgbClr val="2B2E3C"/>
                          </a:solidFill>
                          <a:latin typeface="Open Sans" pitchFamily="34" charset="0"/>
                          <a:ea typeface="Open Sans" pitchFamily="34" charset="-122"/>
                          <a:cs typeface="Open Sans" pitchFamily="34" charset="-120"/>
                        </a:rPr>
                        <a:t>/29</a:t>
                      </a:r>
                      <a:endParaRPr lang="en-US" sz="900" dirty="0">
                        <a:latin typeface="Open Sans" charset="0"/>
                        <a:ea typeface="Open Sans" charset="0"/>
                        <a:cs typeface="Open Sans" charset="0"/>
                      </a:endParaRPr>
                    </a:p>
                  </a:txBody>
                  <a:tcPr marL="115183" marR="115183" marT="6350" marB="6350" anchor="ctr">
                    <a:lnL w="12700" cap="flat" cmpd="sng" algn="ctr">
                      <a:solidFill>
                        <a:srgbClr val="F5EEE6"/>
                      </a:solidFill>
                      <a:prstDash val="solid"/>
                      <a:round/>
                      <a:headEnd type="none" w="med" len="med"/>
                      <a:tailEnd type="none" w="med" len="med"/>
                    </a:lnL>
                    <a:lnR w="12700" cap="flat" cmpd="sng" algn="ctr">
                      <a:solidFill>
                        <a:srgbClr val="F5EEE6"/>
                      </a:solidFill>
                      <a:prstDash val="solid"/>
                      <a:round/>
                      <a:headEnd type="none" w="med" len="med"/>
                      <a:tailEnd type="none" w="med" len="med"/>
                    </a:lnR>
                    <a:lnT w="12700" cap="flat" cmpd="sng" algn="ctr">
                      <a:solidFill>
                        <a:srgbClr val="F5EEE6"/>
                      </a:solidFill>
                      <a:prstDash val="solid"/>
                      <a:round/>
                      <a:headEnd type="none" w="med" len="med"/>
                      <a:tailEnd type="none" w="med" len="med"/>
                    </a:lnT>
                    <a:lnB w="12700" cap="flat" cmpd="sng" algn="ctr">
                      <a:solidFill>
                        <a:srgbClr val="F5EEE6"/>
                      </a:solidFill>
                      <a:prstDash val="solid"/>
                      <a:round/>
                      <a:headEnd type="none" w="med" len="med"/>
                      <a:tailEnd type="none" w="med" len="med"/>
                    </a:lnB>
                    <a:solidFill>
                      <a:srgbClr val="000000">
                        <a:alpha val="4000"/>
                      </a:srgbClr>
                    </a:solidFill>
                  </a:tcPr>
                </a:tc>
                <a:tc>
                  <a:txBody>
                    <a:bodyPr/>
                    <a:lstStyle/>
                    <a:p>
                      <a:pPr algn="l" indent="0" marL="0">
                        <a:buNone/>
                      </a:pPr>
                      <a:r>
                        <a:rPr lang="en-US" sz="900" spc="-18" kern="0" dirty="0">
                          <a:solidFill>
                            <a:srgbClr val="2B2E3C"/>
                          </a:solidFill>
                          <a:latin typeface="Open Sans" pitchFamily="34" charset="0"/>
                          <a:ea typeface="Open Sans" pitchFamily="34" charset="-122"/>
                          <a:cs typeface="Open Sans" pitchFamily="34" charset="-120"/>
                        </a:rPr>
                        <a:t>192.168.1.72</a:t>
                      </a:r>
                      <a:endParaRPr lang="en-US" sz="900" dirty="0">
                        <a:latin typeface="Open Sans" charset="0"/>
                        <a:ea typeface="Open Sans" charset="0"/>
                        <a:cs typeface="Open Sans" charset="0"/>
                      </a:endParaRPr>
                    </a:p>
                  </a:txBody>
                  <a:tcPr marL="115183" marR="115183" marT="6350" marB="6350" anchor="ctr">
                    <a:lnL w="12700" cap="flat" cmpd="sng" algn="ctr">
                      <a:solidFill>
                        <a:srgbClr val="F5EEE6"/>
                      </a:solidFill>
                      <a:prstDash val="solid"/>
                      <a:round/>
                      <a:headEnd type="none" w="med" len="med"/>
                      <a:tailEnd type="none" w="med" len="med"/>
                    </a:lnL>
                    <a:lnR w="12700" cap="flat" cmpd="sng" algn="ctr">
                      <a:solidFill>
                        <a:srgbClr val="E2C8B5"/>
                      </a:solidFill>
                      <a:prstDash val="solid"/>
                      <a:round/>
                      <a:headEnd type="none" w="med" len="med"/>
                      <a:tailEnd type="none" w="med" len="med"/>
                    </a:lnR>
                    <a:lnT w="12700" cap="flat" cmpd="sng" algn="ctr">
                      <a:solidFill>
                        <a:srgbClr val="F5EEE6"/>
                      </a:solidFill>
                      <a:prstDash val="solid"/>
                      <a:round/>
                      <a:headEnd type="none" w="med" len="med"/>
                      <a:tailEnd type="none" w="med" len="med"/>
                    </a:lnT>
                    <a:lnB w="12700" cap="flat" cmpd="sng" algn="ctr">
                      <a:solidFill>
                        <a:srgbClr val="F5EEE6"/>
                      </a:solidFill>
                      <a:prstDash val="solid"/>
                      <a:round/>
                      <a:headEnd type="none" w="med" len="med"/>
                      <a:tailEnd type="none" w="med" len="med"/>
                    </a:lnB>
                    <a:solidFill>
                      <a:srgbClr val="000000">
                        <a:alpha val="4000"/>
                      </a:srgbClr>
                    </a:solidFill>
                  </a:tcPr>
                </a:tc>
              </a:tr>
              <a:tr h="245064">
                <a:tc>
                  <a:txBody>
                    <a:bodyPr/>
                    <a:lstStyle/>
                    <a:p>
                      <a:pPr algn="l" indent="0" marL="0">
                        <a:buNone/>
                      </a:pPr>
                      <a:r>
                        <a:rPr lang="en-US" sz="900" spc="-18" kern="0" dirty="0">
                          <a:solidFill>
                            <a:srgbClr val="2B2E3C"/>
                          </a:solidFill>
                          <a:latin typeface="Open Sans" pitchFamily="34" charset="0"/>
                          <a:ea typeface="Open Sans" pitchFamily="34" charset="-122"/>
                          <a:cs typeface="Open Sans" pitchFamily="34" charset="-120"/>
                        </a:rPr>
                        <a:t>Test Network</a:t>
                      </a:r>
                      <a:endParaRPr lang="en-US" sz="900" dirty="0">
                        <a:latin typeface="Open Sans" charset="0"/>
                        <a:ea typeface="Open Sans" charset="0"/>
                        <a:cs typeface="Open Sans" charset="0"/>
                      </a:endParaRPr>
                    </a:p>
                  </a:txBody>
                  <a:tcPr marL="115183" marR="115183" marT="6350" marB="6350" anchor="ctr">
                    <a:lnL w="12700" cap="flat" cmpd="sng" algn="ctr">
                      <a:solidFill>
                        <a:srgbClr val="E2C8B5"/>
                      </a:solidFill>
                      <a:prstDash val="solid"/>
                      <a:round/>
                      <a:headEnd type="none" w="med" len="med"/>
                      <a:tailEnd type="none" w="med" len="med"/>
                    </a:lnL>
                    <a:lnR w="12700" cap="flat" cmpd="sng" algn="ctr">
                      <a:solidFill>
                        <a:srgbClr val="FFF8F1"/>
                      </a:solidFill>
                      <a:prstDash val="solid"/>
                      <a:round/>
                      <a:headEnd type="none" w="med" len="med"/>
                      <a:tailEnd type="none" w="med" len="med"/>
                    </a:lnR>
                    <a:lnT w="12700" cap="flat" cmpd="sng" algn="ctr">
                      <a:solidFill>
                        <a:srgbClr val="FFF8F1"/>
                      </a:solidFill>
                      <a:prstDash val="solid"/>
                      <a:round/>
                      <a:headEnd type="none" w="med" len="med"/>
                      <a:tailEnd type="none" w="med" len="med"/>
                    </a:lnT>
                    <a:lnB w="12700" cap="flat" cmpd="sng" algn="ctr">
                      <a:solidFill>
                        <a:srgbClr val="FFF8F1"/>
                      </a:solidFill>
                      <a:prstDash val="solid"/>
                      <a:round/>
                      <a:headEnd type="none" w="med" len="med"/>
                      <a:tailEnd type="none" w="med" len="med"/>
                    </a:lnB>
                    <a:solidFill>
                      <a:srgbClr val="FFFFFF">
                        <a:alpha val="4000"/>
                      </a:srgbClr>
                    </a:solidFill>
                  </a:tcPr>
                </a:tc>
                <a:tc>
                  <a:txBody>
                    <a:bodyPr/>
                    <a:lstStyle/>
                    <a:p>
                      <a:pPr algn="l" indent="0" marL="0">
                        <a:buNone/>
                      </a:pPr>
                      <a:r>
                        <a:rPr lang="en-US" sz="900" spc="-18" kern="0" dirty="0">
                          <a:solidFill>
                            <a:srgbClr val="2B2E3C"/>
                          </a:solidFill>
                          <a:latin typeface="Open Sans" pitchFamily="34" charset="0"/>
                          <a:ea typeface="Open Sans" pitchFamily="34" charset="-122"/>
                          <a:cs typeface="Open Sans" pitchFamily="34" charset="-120"/>
                        </a:rPr>
                        <a:t>3</a:t>
                      </a:r>
                      <a:endParaRPr lang="en-US" sz="900" dirty="0">
                        <a:latin typeface="Open Sans" charset="0"/>
                        <a:ea typeface="Open Sans" charset="0"/>
                        <a:cs typeface="Open Sans" charset="0"/>
                      </a:endParaRPr>
                    </a:p>
                  </a:txBody>
                  <a:tcPr marL="115183" marR="115183" marT="6350" marB="6350" anchor="ctr">
                    <a:lnL w="12700" cap="flat" cmpd="sng" algn="ctr">
                      <a:solidFill>
                        <a:srgbClr val="FFF8F1"/>
                      </a:solidFill>
                      <a:prstDash val="solid"/>
                      <a:round/>
                      <a:headEnd type="none" w="med" len="med"/>
                      <a:tailEnd type="none" w="med" len="med"/>
                    </a:lnL>
                    <a:lnR w="12700" cap="flat" cmpd="sng" algn="ctr">
                      <a:solidFill>
                        <a:srgbClr val="FFF8F1"/>
                      </a:solidFill>
                      <a:prstDash val="solid"/>
                      <a:round/>
                      <a:headEnd type="none" w="med" len="med"/>
                      <a:tailEnd type="none" w="med" len="med"/>
                    </a:lnR>
                    <a:lnT w="12700" cap="flat" cmpd="sng" algn="ctr">
                      <a:solidFill>
                        <a:srgbClr val="FFF8F1"/>
                      </a:solidFill>
                      <a:prstDash val="solid"/>
                      <a:round/>
                      <a:headEnd type="none" w="med" len="med"/>
                      <a:tailEnd type="none" w="med" len="med"/>
                    </a:lnT>
                    <a:lnB w="12700" cap="flat" cmpd="sng" algn="ctr">
                      <a:solidFill>
                        <a:srgbClr val="FFF8F1"/>
                      </a:solidFill>
                      <a:prstDash val="solid"/>
                      <a:round/>
                      <a:headEnd type="none" w="med" len="med"/>
                      <a:tailEnd type="none" w="med" len="med"/>
                    </a:lnB>
                    <a:solidFill>
                      <a:srgbClr val="FFFFFF">
                        <a:alpha val="4000"/>
                      </a:srgbClr>
                    </a:solidFill>
                  </a:tcPr>
                </a:tc>
                <a:tc>
                  <a:txBody>
                    <a:bodyPr/>
                    <a:lstStyle/>
                    <a:p>
                      <a:pPr algn="l" indent="0" marL="0">
                        <a:buNone/>
                      </a:pPr>
                      <a:r>
                        <a:rPr lang="en-US" sz="900" spc="-18" kern="0" dirty="0">
                          <a:solidFill>
                            <a:srgbClr val="2B2E3C"/>
                          </a:solidFill>
                          <a:latin typeface="Open Sans" pitchFamily="34" charset="0"/>
                          <a:ea typeface="Open Sans" pitchFamily="34" charset="-122"/>
                          <a:cs typeface="Open Sans" pitchFamily="34" charset="-120"/>
                        </a:rPr>
                        <a:t>/29</a:t>
                      </a:r>
                      <a:endParaRPr lang="en-US" sz="900" dirty="0">
                        <a:latin typeface="Open Sans" charset="0"/>
                        <a:ea typeface="Open Sans" charset="0"/>
                        <a:cs typeface="Open Sans" charset="0"/>
                      </a:endParaRPr>
                    </a:p>
                  </a:txBody>
                  <a:tcPr marL="115183" marR="115183" marT="6350" marB="6350" anchor="ctr">
                    <a:lnL w="12700" cap="flat" cmpd="sng" algn="ctr">
                      <a:solidFill>
                        <a:srgbClr val="FFF8F1"/>
                      </a:solidFill>
                      <a:prstDash val="solid"/>
                      <a:round/>
                      <a:headEnd type="none" w="med" len="med"/>
                      <a:tailEnd type="none" w="med" len="med"/>
                    </a:lnL>
                    <a:lnR w="12700" cap="flat" cmpd="sng" algn="ctr">
                      <a:solidFill>
                        <a:srgbClr val="FFF8F1"/>
                      </a:solidFill>
                      <a:prstDash val="solid"/>
                      <a:round/>
                      <a:headEnd type="none" w="med" len="med"/>
                      <a:tailEnd type="none" w="med" len="med"/>
                    </a:lnR>
                    <a:lnT w="12700" cap="flat" cmpd="sng" algn="ctr">
                      <a:solidFill>
                        <a:srgbClr val="FFF8F1"/>
                      </a:solidFill>
                      <a:prstDash val="solid"/>
                      <a:round/>
                      <a:headEnd type="none" w="med" len="med"/>
                      <a:tailEnd type="none" w="med" len="med"/>
                    </a:lnT>
                    <a:lnB w="12700" cap="flat" cmpd="sng" algn="ctr">
                      <a:solidFill>
                        <a:srgbClr val="FFF8F1"/>
                      </a:solidFill>
                      <a:prstDash val="solid"/>
                      <a:round/>
                      <a:headEnd type="none" w="med" len="med"/>
                      <a:tailEnd type="none" w="med" len="med"/>
                    </a:lnB>
                    <a:solidFill>
                      <a:srgbClr val="FFFFFF">
                        <a:alpha val="4000"/>
                      </a:srgbClr>
                    </a:solidFill>
                  </a:tcPr>
                </a:tc>
                <a:tc>
                  <a:txBody>
                    <a:bodyPr/>
                    <a:lstStyle/>
                    <a:p>
                      <a:pPr algn="l" indent="0" marL="0">
                        <a:buNone/>
                      </a:pPr>
                      <a:r>
                        <a:rPr lang="en-US" sz="900" spc="-18" kern="0" dirty="0">
                          <a:solidFill>
                            <a:srgbClr val="2B2E3C"/>
                          </a:solidFill>
                          <a:latin typeface="Open Sans" pitchFamily="34" charset="0"/>
                          <a:ea typeface="Open Sans" pitchFamily="34" charset="-122"/>
                          <a:cs typeface="Open Sans" pitchFamily="34" charset="-120"/>
                        </a:rPr>
                        <a:t>192.168.1.80</a:t>
                      </a:r>
                      <a:endParaRPr lang="en-US" sz="900" dirty="0">
                        <a:latin typeface="Open Sans" charset="0"/>
                        <a:ea typeface="Open Sans" charset="0"/>
                        <a:cs typeface="Open Sans" charset="0"/>
                      </a:endParaRPr>
                    </a:p>
                  </a:txBody>
                  <a:tcPr marL="115183" marR="115183" marT="6350" marB="6350" anchor="ctr">
                    <a:lnL w="12700" cap="flat" cmpd="sng" algn="ctr">
                      <a:solidFill>
                        <a:srgbClr val="FFF8F1"/>
                      </a:solidFill>
                      <a:prstDash val="solid"/>
                      <a:round/>
                      <a:headEnd type="none" w="med" len="med"/>
                      <a:tailEnd type="none" w="med" len="med"/>
                    </a:lnL>
                    <a:lnR w="12700" cap="flat" cmpd="sng" algn="ctr">
                      <a:solidFill>
                        <a:srgbClr val="E2C8B5"/>
                      </a:solidFill>
                      <a:prstDash val="solid"/>
                      <a:round/>
                      <a:headEnd type="none" w="med" len="med"/>
                      <a:tailEnd type="none" w="med" len="med"/>
                    </a:lnR>
                    <a:lnT w="12700" cap="flat" cmpd="sng" algn="ctr">
                      <a:solidFill>
                        <a:srgbClr val="FFF8F1"/>
                      </a:solidFill>
                      <a:prstDash val="solid"/>
                      <a:round/>
                      <a:headEnd type="none" w="med" len="med"/>
                      <a:tailEnd type="none" w="med" len="med"/>
                    </a:lnT>
                    <a:lnB w="12700" cap="flat" cmpd="sng" algn="ctr">
                      <a:solidFill>
                        <a:srgbClr val="FFF8F1"/>
                      </a:solidFill>
                      <a:prstDash val="solid"/>
                      <a:round/>
                      <a:headEnd type="none" w="med" len="med"/>
                      <a:tailEnd type="none" w="med" len="med"/>
                    </a:lnB>
                    <a:solidFill>
                      <a:srgbClr val="FFFFFF">
                        <a:alpha val="4000"/>
                      </a:srgbClr>
                    </a:solidFill>
                  </a:tcPr>
                </a:tc>
              </a:tr>
              <a:tr h="245064">
                <a:tc>
                  <a:txBody>
                    <a:bodyPr/>
                    <a:lstStyle/>
                    <a:p>
                      <a:pPr algn="l" indent="0" marL="0">
                        <a:buNone/>
                      </a:pPr>
                      <a:r>
                        <a:rPr lang="en-US" sz="900" spc="-18" kern="0" dirty="0">
                          <a:solidFill>
                            <a:srgbClr val="2B2E3C"/>
                          </a:solidFill>
                          <a:latin typeface="Open Sans" pitchFamily="34" charset="0"/>
                          <a:ea typeface="Open Sans" pitchFamily="34" charset="-122"/>
                          <a:cs typeface="Open Sans" pitchFamily="34" charset="-120"/>
                        </a:rPr>
                        <a:t>R5 → R8</a:t>
                      </a:r>
                      <a:endParaRPr lang="en-US" sz="900" dirty="0">
                        <a:latin typeface="Open Sans" charset="0"/>
                        <a:ea typeface="Open Sans" charset="0"/>
                        <a:cs typeface="Open Sans" charset="0"/>
                      </a:endParaRPr>
                    </a:p>
                  </a:txBody>
                  <a:tcPr marL="115183" marR="115183" marT="6350" marB="6350" anchor="ctr">
                    <a:lnL w="12700" cap="flat" cmpd="sng" algn="ctr">
                      <a:solidFill>
                        <a:srgbClr val="E2C8B5"/>
                      </a:solidFill>
                      <a:prstDash val="solid"/>
                      <a:round/>
                      <a:headEnd type="none" w="med" len="med"/>
                      <a:tailEnd type="none" w="med" len="med"/>
                    </a:lnL>
                    <a:lnR w="12700" cap="flat" cmpd="sng" algn="ctr">
                      <a:solidFill>
                        <a:srgbClr val="F5EEE6"/>
                      </a:solidFill>
                      <a:prstDash val="solid"/>
                      <a:round/>
                      <a:headEnd type="none" w="med" len="med"/>
                      <a:tailEnd type="none" w="med" len="med"/>
                    </a:lnR>
                    <a:lnT w="12700" cap="flat" cmpd="sng" algn="ctr">
                      <a:solidFill>
                        <a:srgbClr val="F5EEE6"/>
                      </a:solidFill>
                      <a:prstDash val="solid"/>
                      <a:round/>
                      <a:headEnd type="none" w="med" len="med"/>
                      <a:tailEnd type="none" w="med" len="med"/>
                    </a:lnT>
                    <a:lnB w="12700" cap="flat" cmpd="sng" algn="ctr">
                      <a:solidFill>
                        <a:srgbClr val="F5EEE6"/>
                      </a:solidFill>
                      <a:prstDash val="solid"/>
                      <a:round/>
                      <a:headEnd type="none" w="med" len="med"/>
                      <a:tailEnd type="none" w="med" len="med"/>
                    </a:lnB>
                    <a:solidFill>
                      <a:srgbClr val="000000">
                        <a:alpha val="4000"/>
                      </a:srgbClr>
                    </a:solidFill>
                  </a:tcPr>
                </a:tc>
                <a:tc>
                  <a:txBody>
                    <a:bodyPr/>
                    <a:lstStyle/>
                    <a:p>
                      <a:pPr algn="l" indent="0" marL="0">
                        <a:buNone/>
                      </a:pPr>
                      <a:r>
                        <a:rPr lang="en-US" sz="900" spc="-18" kern="0" dirty="0">
                          <a:solidFill>
                            <a:srgbClr val="2B2E3C"/>
                          </a:solidFill>
                          <a:latin typeface="Open Sans" pitchFamily="34" charset="0"/>
                          <a:ea typeface="Open Sans" pitchFamily="34" charset="-122"/>
                          <a:cs typeface="Open Sans" pitchFamily="34" charset="-120"/>
                        </a:rPr>
                        <a:t>2</a:t>
                      </a:r>
                      <a:endParaRPr lang="en-US" sz="900" dirty="0">
                        <a:latin typeface="Open Sans" charset="0"/>
                        <a:ea typeface="Open Sans" charset="0"/>
                        <a:cs typeface="Open Sans" charset="0"/>
                      </a:endParaRPr>
                    </a:p>
                  </a:txBody>
                  <a:tcPr marL="115183" marR="115183" marT="6350" marB="6350" anchor="ctr">
                    <a:lnL w="12700" cap="flat" cmpd="sng" algn="ctr">
                      <a:solidFill>
                        <a:srgbClr val="F5EEE6"/>
                      </a:solidFill>
                      <a:prstDash val="solid"/>
                      <a:round/>
                      <a:headEnd type="none" w="med" len="med"/>
                      <a:tailEnd type="none" w="med" len="med"/>
                    </a:lnL>
                    <a:lnR w="12700" cap="flat" cmpd="sng" algn="ctr">
                      <a:solidFill>
                        <a:srgbClr val="F5EEE6"/>
                      </a:solidFill>
                      <a:prstDash val="solid"/>
                      <a:round/>
                      <a:headEnd type="none" w="med" len="med"/>
                      <a:tailEnd type="none" w="med" len="med"/>
                    </a:lnR>
                    <a:lnT w="12700" cap="flat" cmpd="sng" algn="ctr">
                      <a:solidFill>
                        <a:srgbClr val="F5EEE6"/>
                      </a:solidFill>
                      <a:prstDash val="solid"/>
                      <a:round/>
                      <a:headEnd type="none" w="med" len="med"/>
                      <a:tailEnd type="none" w="med" len="med"/>
                    </a:lnT>
                    <a:lnB w="12700" cap="flat" cmpd="sng" algn="ctr">
                      <a:solidFill>
                        <a:srgbClr val="F5EEE6"/>
                      </a:solidFill>
                      <a:prstDash val="solid"/>
                      <a:round/>
                      <a:headEnd type="none" w="med" len="med"/>
                      <a:tailEnd type="none" w="med" len="med"/>
                    </a:lnB>
                    <a:solidFill>
                      <a:srgbClr val="000000">
                        <a:alpha val="4000"/>
                      </a:srgbClr>
                    </a:solidFill>
                  </a:tcPr>
                </a:tc>
                <a:tc>
                  <a:txBody>
                    <a:bodyPr/>
                    <a:lstStyle/>
                    <a:p>
                      <a:pPr algn="l" indent="0" marL="0">
                        <a:buNone/>
                      </a:pPr>
                      <a:r>
                        <a:rPr lang="en-US" sz="900" spc="-18" kern="0" dirty="0">
                          <a:solidFill>
                            <a:srgbClr val="2B2E3C"/>
                          </a:solidFill>
                          <a:latin typeface="Open Sans" pitchFamily="34" charset="0"/>
                          <a:ea typeface="Open Sans" pitchFamily="34" charset="-122"/>
                          <a:cs typeface="Open Sans" pitchFamily="34" charset="-120"/>
                        </a:rPr>
                        <a:t>/30</a:t>
                      </a:r>
                      <a:endParaRPr lang="en-US" sz="900" dirty="0">
                        <a:latin typeface="Open Sans" charset="0"/>
                        <a:ea typeface="Open Sans" charset="0"/>
                        <a:cs typeface="Open Sans" charset="0"/>
                      </a:endParaRPr>
                    </a:p>
                  </a:txBody>
                  <a:tcPr marL="115183" marR="115183" marT="6350" marB="6350" anchor="ctr">
                    <a:lnL w="12700" cap="flat" cmpd="sng" algn="ctr">
                      <a:solidFill>
                        <a:srgbClr val="F5EEE6"/>
                      </a:solidFill>
                      <a:prstDash val="solid"/>
                      <a:round/>
                      <a:headEnd type="none" w="med" len="med"/>
                      <a:tailEnd type="none" w="med" len="med"/>
                    </a:lnL>
                    <a:lnR w="12700" cap="flat" cmpd="sng" algn="ctr">
                      <a:solidFill>
                        <a:srgbClr val="F5EEE6"/>
                      </a:solidFill>
                      <a:prstDash val="solid"/>
                      <a:round/>
                      <a:headEnd type="none" w="med" len="med"/>
                      <a:tailEnd type="none" w="med" len="med"/>
                    </a:lnR>
                    <a:lnT w="12700" cap="flat" cmpd="sng" algn="ctr">
                      <a:solidFill>
                        <a:srgbClr val="F5EEE6"/>
                      </a:solidFill>
                      <a:prstDash val="solid"/>
                      <a:round/>
                      <a:headEnd type="none" w="med" len="med"/>
                      <a:tailEnd type="none" w="med" len="med"/>
                    </a:lnT>
                    <a:lnB w="12700" cap="flat" cmpd="sng" algn="ctr">
                      <a:solidFill>
                        <a:srgbClr val="F5EEE6"/>
                      </a:solidFill>
                      <a:prstDash val="solid"/>
                      <a:round/>
                      <a:headEnd type="none" w="med" len="med"/>
                      <a:tailEnd type="none" w="med" len="med"/>
                    </a:lnB>
                    <a:solidFill>
                      <a:srgbClr val="000000">
                        <a:alpha val="4000"/>
                      </a:srgbClr>
                    </a:solidFill>
                  </a:tcPr>
                </a:tc>
                <a:tc>
                  <a:txBody>
                    <a:bodyPr/>
                    <a:lstStyle/>
                    <a:p>
                      <a:pPr algn="l" indent="0" marL="0">
                        <a:buNone/>
                      </a:pPr>
                      <a:r>
                        <a:rPr lang="en-US" sz="900" spc="-18" kern="0" dirty="0">
                          <a:solidFill>
                            <a:srgbClr val="2B2E3C"/>
                          </a:solidFill>
                          <a:latin typeface="Open Sans" pitchFamily="34" charset="0"/>
                          <a:ea typeface="Open Sans" pitchFamily="34" charset="-122"/>
                          <a:cs typeface="Open Sans" pitchFamily="34" charset="-120"/>
                        </a:rPr>
                        <a:t>192.168.1.88</a:t>
                      </a:r>
                      <a:endParaRPr lang="en-US" sz="900" dirty="0">
                        <a:latin typeface="Open Sans" charset="0"/>
                        <a:ea typeface="Open Sans" charset="0"/>
                        <a:cs typeface="Open Sans" charset="0"/>
                      </a:endParaRPr>
                    </a:p>
                  </a:txBody>
                  <a:tcPr marL="115183" marR="115183" marT="6350" marB="6350" anchor="ctr">
                    <a:lnL w="12700" cap="flat" cmpd="sng" algn="ctr">
                      <a:solidFill>
                        <a:srgbClr val="F5EEE6"/>
                      </a:solidFill>
                      <a:prstDash val="solid"/>
                      <a:round/>
                      <a:headEnd type="none" w="med" len="med"/>
                      <a:tailEnd type="none" w="med" len="med"/>
                    </a:lnL>
                    <a:lnR w="12700" cap="flat" cmpd="sng" algn="ctr">
                      <a:solidFill>
                        <a:srgbClr val="E2C8B5"/>
                      </a:solidFill>
                      <a:prstDash val="solid"/>
                      <a:round/>
                      <a:headEnd type="none" w="med" len="med"/>
                      <a:tailEnd type="none" w="med" len="med"/>
                    </a:lnR>
                    <a:lnT w="12700" cap="flat" cmpd="sng" algn="ctr">
                      <a:solidFill>
                        <a:srgbClr val="F5EEE6"/>
                      </a:solidFill>
                      <a:prstDash val="solid"/>
                      <a:round/>
                      <a:headEnd type="none" w="med" len="med"/>
                      <a:tailEnd type="none" w="med" len="med"/>
                    </a:lnT>
                    <a:lnB w="12700" cap="flat" cmpd="sng" algn="ctr">
                      <a:solidFill>
                        <a:srgbClr val="F5EEE6"/>
                      </a:solidFill>
                      <a:prstDash val="solid"/>
                      <a:round/>
                      <a:headEnd type="none" w="med" len="med"/>
                      <a:tailEnd type="none" w="med" len="med"/>
                    </a:lnB>
                    <a:solidFill>
                      <a:srgbClr val="000000">
                        <a:alpha val="4000"/>
                      </a:srgbClr>
                    </a:solidFill>
                  </a:tcPr>
                </a:tc>
              </a:tr>
              <a:tr h="245064">
                <a:tc>
                  <a:txBody>
                    <a:bodyPr/>
                    <a:lstStyle/>
                    <a:p>
                      <a:pPr algn="l" indent="0" marL="0">
                        <a:buNone/>
                      </a:pPr>
                      <a:r>
                        <a:rPr lang="en-US" sz="900" spc="-18" kern="0" dirty="0">
                          <a:solidFill>
                            <a:srgbClr val="2B2E3C"/>
                          </a:solidFill>
                          <a:latin typeface="Open Sans" pitchFamily="34" charset="0"/>
                          <a:ea typeface="Open Sans" pitchFamily="34" charset="-122"/>
                          <a:cs typeface="Open Sans" pitchFamily="34" charset="-120"/>
                        </a:rPr>
                        <a:t>R5 → R7</a:t>
                      </a:r>
                      <a:endParaRPr lang="en-US" sz="900" dirty="0">
                        <a:latin typeface="Open Sans" charset="0"/>
                        <a:ea typeface="Open Sans" charset="0"/>
                        <a:cs typeface="Open Sans" charset="0"/>
                      </a:endParaRPr>
                    </a:p>
                  </a:txBody>
                  <a:tcPr marL="115183" marR="115183" marT="6350" marB="6350" anchor="ctr">
                    <a:lnL w="12700" cap="flat" cmpd="sng" algn="ctr">
                      <a:solidFill>
                        <a:srgbClr val="E2C8B5"/>
                      </a:solidFill>
                      <a:prstDash val="solid"/>
                      <a:round/>
                      <a:headEnd type="none" w="med" len="med"/>
                      <a:tailEnd type="none" w="med" len="med"/>
                    </a:lnL>
                    <a:lnR w="12700" cap="flat" cmpd="sng" algn="ctr">
                      <a:solidFill>
                        <a:srgbClr val="FFF8F1"/>
                      </a:solidFill>
                      <a:prstDash val="solid"/>
                      <a:round/>
                      <a:headEnd type="none" w="med" len="med"/>
                      <a:tailEnd type="none" w="med" len="med"/>
                    </a:lnR>
                    <a:lnT w="12700" cap="flat" cmpd="sng" algn="ctr">
                      <a:solidFill>
                        <a:srgbClr val="FFF8F1"/>
                      </a:solidFill>
                      <a:prstDash val="solid"/>
                      <a:round/>
                      <a:headEnd type="none" w="med" len="med"/>
                      <a:tailEnd type="none" w="med" len="med"/>
                    </a:lnT>
                    <a:lnB w="12700" cap="flat" cmpd="sng" algn="ctr">
                      <a:solidFill>
                        <a:srgbClr val="FFF8F1"/>
                      </a:solidFill>
                      <a:prstDash val="solid"/>
                      <a:round/>
                      <a:headEnd type="none" w="med" len="med"/>
                      <a:tailEnd type="none" w="med" len="med"/>
                    </a:lnB>
                    <a:solidFill>
                      <a:srgbClr val="FFFFFF">
                        <a:alpha val="4000"/>
                      </a:srgbClr>
                    </a:solidFill>
                  </a:tcPr>
                </a:tc>
                <a:tc>
                  <a:txBody>
                    <a:bodyPr/>
                    <a:lstStyle/>
                    <a:p>
                      <a:pPr algn="l" indent="0" marL="0">
                        <a:buNone/>
                      </a:pPr>
                      <a:r>
                        <a:rPr lang="en-US" sz="900" spc="-18" kern="0" dirty="0">
                          <a:solidFill>
                            <a:srgbClr val="2B2E3C"/>
                          </a:solidFill>
                          <a:latin typeface="Open Sans" pitchFamily="34" charset="0"/>
                          <a:ea typeface="Open Sans" pitchFamily="34" charset="-122"/>
                          <a:cs typeface="Open Sans" pitchFamily="34" charset="-120"/>
                        </a:rPr>
                        <a:t>2</a:t>
                      </a:r>
                      <a:endParaRPr lang="en-US" sz="900" dirty="0">
                        <a:latin typeface="Open Sans" charset="0"/>
                        <a:ea typeface="Open Sans" charset="0"/>
                        <a:cs typeface="Open Sans" charset="0"/>
                      </a:endParaRPr>
                    </a:p>
                  </a:txBody>
                  <a:tcPr marL="115183" marR="115183" marT="6350" marB="6350" anchor="ctr">
                    <a:lnL w="12700" cap="flat" cmpd="sng" algn="ctr">
                      <a:solidFill>
                        <a:srgbClr val="FFF8F1"/>
                      </a:solidFill>
                      <a:prstDash val="solid"/>
                      <a:round/>
                      <a:headEnd type="none" w="med" len="med"/>
                      <a:tailEnd type="none" w="med" len="med"/>
                    </a:lnL>
                    <a:lnR w="12700" cap="flat" cmpd="sng" algn="ctr">
                      <a:solidFill>
                        <a:srgbClr val="FFF8F1"/>
                      </a:solidFill>
                      <a:prstDash val="solid"/>
                      <a:round/>
                      <a:headEnd type="none" w="med" len="med"/>
                      <a:tailEnd type="none" w="med" len="med"/>
                    </a:lnR>
                    <a:lnT w="12700" cap="flat" cmpd="sng" algn="ctr">
                      <a:solidFill>
                        <a:srgbClr val="FFF8F1"/>
                      </a:solidFill>
                      <a:prstDash val="solid"/>
                      <a:round/>
                      <a:headEnd type="none" w="med" len="med"/>
                      <a:tailEnd type="none" w="med" len="med"/>
                    </a:lnT>
                    <a:lnB w="12700" cap="flat" cmpd="sng" algn="ctr">
                      <a:solidFill>
                        <a:srgbClr val="FFF8F1"/>
                      </a:solidFill>
                      <a:prstDash val="solid"/>
                      <a:round/>
                      <a:headEnd type="none" w="med" len="med"/>
                      <a:tailEnd type="none" w="med" len="med"/>
                    </a:lnB>
                    <a:solidFill>
                      <a:srgbClr val="FFFFFF">
                        <a:alpha val="4000"/>
                      </a:srgbClr>
                    </a:solidFill>
                  </a:tcPr>
                </a:tc>
                <a:tc>
                  <a:txBody>
                    <a:bodyPr/>
                    <a:lstStyle/>
                    <a:p>
                      <a:pPr algn="l" indent="0" marL="0">
                        <a:buNone/>
                      </a:pPr>
                      <a:r>
                        <a:rPr lang="en-US" sz="900" spc="-18" kern="0" dirty="0">
                          <a:solidFill>
                            <a:srgbClr val="2B2E3C"/>
                          </a:solidFill>
                          <a:latin typeface="Open Sans" pitchFamily="34" charset="0"/>
                          <a:ea typeface="Open Sans" pitchFamily="34" charset="-122"/>
                          <a:cs typeface="Open Sans" pitchFamily="34" charset="-120"/>
                        </a:rPr>
                        <a:t>/30</a:t>
                      </a:r>
                      <a:endParaRPr lang="en-US" sz="900" dirty="0">
                        <a:latin typeface="Open Sans" charset="0"/>
                        <a:ea typeface="Open Sans" charset="0"/>
                        <a:cs typeface="Open Sans" charset="0"/>
                      </a:endParaRPr>
                    </a:p>
                  </a:txBody>
                  <a:tcPr marL="115183" marR="115183" marT="6350" marB="6350" anchor="ctr">
                    <a:lnL w="12700" cap="flat" cmpd="sng" algn="ctr">
                      <a:solidFill>
                        <a:srgbClr val="FFF8F1"/>
                      </a:solidFill>
                      <a:prstDash val="solid"/>
                      <a:round/>
                      <a:headEnd type="none" w="med" len="med"/>
                      <a:tailEnd type="none" w="med" len="med"/>
                    </a:lnL>
                    <a:lnR w="12700" cap="flat" cmpd="sng" algn="ctr">
                      <a:solidFill>
                        <a:srgbClr val="FFF8F1"/>
                      </a:solidFill>
                      <a:prstDash val="solid"/>
                      <a:round/>
                      <a:headEnd type="none" w="med" len="med"/>
                      <a:tailEnd type="none" w="med" len="med"/>
                    </a:lnR>
                    <a:lnT w="12700" cap="flat" cmpd="sng" algn="ctr">
                      <a:solidFill>
                        <a:srgbClr val="FFF8F1"/>
                      </a:solidFill>
                      <a:prstDash val="solid"/>
                      <a:round/>
                      <a:headEnd type="none" w="med" len="med"/>
                      <a:tailEnd type="none" w="med" len="med"/>
                    </a:lnT>
                    <a:lnB w="12700" cap="flat" cmpd="sng" algn="ctr">
                      <a:solidFill>
                        <a:srgbClr val="FFF8F1"/>
                      </a:solidFill>
                      <a:prstDash val="solid"/>
                      <a:round/>
                      <a:headEnd type="none" w="med" len="med"/>
                      <a:tailEnd type="none" w="med" len="med"/>
                    </a:lnB>
                    <a:solidFill>
                      <a:srgbClr val="FFFFFF">
                        <a:alpha val="4000"/>
                      </a:srgbClr>
                    </a:solidFill>
                  </a:tcPr>
                </a:tc>
                <a:tc>
                  <a:txBody>
                    <a:bodyPr/>
                    <a:lstStyle/>
                    <a:p>
                      <a:pPr algn="l" indent="0" marL="0">
                        <a:buNone/>
                      </a:pPr>
                      <a:r>
                        <a:rPr lang="en-US" sz="900" spc="-18" kern="0" dirty="0">
                          <a:solidFill>
                            <a:srgbClr val="2B2E3C"/>
                          </a:solidFill>
                          <a:latin typeface="Open Sans" pitchFamily="34" charset="0"/>
                          <a:ea typeface="Open Sans" pitchFamily="34" charset="-122"/>
                          <a:cs typeface="Open Sans" pitchFamily="34" charset="-120"/>
                        </a:rPr>
                        <a:t>192.168.1.92</a:t>
                      </a:r>
                      <a:endParaRPr lang="en-US" sz="900" dirty="0">
                        <a:latin typeface="Open Sans" charset="0"/>
                        <a:ea typeface="Open Sans" charset="0"/>
                        <a:cs typeface="Open Sans" charset="0"/>
                      </a:endParaRPr>
                    </a:p>
                  </a:txBody>
                  <a:tcPr marL="115183" marR="115183" marT="6350" marB="6350" anchor="ctr">
                    <a:lnL w="12700" cap="flat" cmpd="sng" algn="ctr">
                      <a:solidFill>
                        <a:srgbClr val="FFF8F1"/>
                      </a:solidFill>
                      <a:prstDash val="solid"/>
                      <a:round/>
                      <a:headEnd type="none" w="med" len="med"/>
                      <a:tailEnd type="none" w="med" len="med"/>
                    </a:lnL>
                    <a:lnR w="12700" cap="flat" cmpd="sng" algn="ctr">
                      <a:solidFill>
                        <a:srgbClr val="E2C8B5"/>
                      </a:solidFill>
                      <a:prstDash val="solid"/>
                      <a:round/>
                      <a:headEnd type="none" w="med" len="med"/>
                      <a:tailEnd type="none" w="med" len="med"/>
                    </a:lnR>
                    <a:lnT w="12700" cap="flat" cmpd="sng" algn="ctr">
                      <a:solidFill>
                        <a:srgbClr val="FFF8F1"/>
                      </a:solidFill>
                      <a:prstDash val="solid"/>
                      <a:round/>
                      <a:headEnd type="none" w="med" len="med"/>
                      <a:tailEnd type="none" w="med" len="med"/>
                    </a:lnT>
                    <a:lnB w="12700" cap="flat" cmpd="sng" algn="ctr">
                      <a:solidFill>
                        <a:srgbClr val="FFF8F1"/>
                      </a:solidFill>
                      <a:prstDash val="solid"/>
                      <a:round/>
                      <a:headEnd type="none" w="med" len="med"/>
                      <a:tailEnd type="none" w="med" len="med"/>
                    </a:lnB>
                    <a:solidFill>
                      <a:srgbClr val="FFFFFF">
                        <a:alpha val="4000"/>
                      </a:srgbClr>
                    </a:solidFill>
                  </a:tcPr>
                </a:tc>
              </a:tr>
              <a:tr h="245064">
                <a:tc>
                  <a:txBody>
                    <a:bodyPr/>
                    <a:lstStyle/>
                    <a:p>
                      <a:pPr algn="l" indent="0" marL="0">
                        <a:buNone/>
                      </a:pPr>
                      <a:r>
                        <a:rPr lang="en-US" sz="900" spc="-18" kern="0" dirty="0">
                          <a:solidFill>
                            <a:srgbClr val="2B2E3C"/>
                          </a:solidFill>
                          <a:latin typeface="Open Sans" pitchFamily="34" charset="0"/>
                          <a:ea typeface="Open Sans" pitchFamily="34" charset="-122"/>
                          <a:cs typeface="Open Sans" pitchFamily="34" charset="-120"/>
                        </a:rPr>
                        <a:t>R7 → R3</a:t>
                      </a:r>
                      <a:endParaRPr lang="en-US" sz="900" dirty="0">
                        <a:latin typeface="Open Sans" charset="0"/>
                        <a:ea typeface="Open Sans" charset="0"/>
                        <a:cs typeface="Open Sans" charset="0"/>
                      </a:endParaRPr>
                    </a:p>
                  </a:txBody>
                  <a:tcPr marL="115183" marR="115183" marT="6350" marB="6350" anchor="ctr">
                    <a:lnL w="12700" cap="flat" cmpd="sng" algn="ctr">
                      <a:solidFill>
                        <a:srgbClr val="E2C8B5"/>
                      </a:solidFill>
                      <a:prstDash val="solid"/>
                      <a:round/>
                      <a:headEnd type="none" w="med" len="med"/>
                      <a:tailEnd type="none" w="med" len="med"/>
                    </a:lnL>
                    <a:lnR w="12700" cap="flat" cmpd="sng" algn="ctr">
                      <a:solidFill>
                        <a:srgbClr val="F5EEE6"/>
                      </a:solidFill>
                      <a:prstDash val="solid"/>
                      <a:round/>
                      <a:headEnd type="none" w="med" len="med"/>
                      <a:tailEnd type="none" w="med" len="med"/>
                    </a:lnR>
                    <a:lnT w="12700" cap="flat" cmpd="sng" algn="ctr">
                      <a:solidFill>
                        <a:srgbClr val="F5EEE6"/>
                      </a:solidFill>
                      <a:prstDash val="solid"/>
                      <a:round/>
                      <a:headEnd type="none" w="med" len="med"/>
                      <a:tailEnd type="none" w="med" len="med"/>
                    </a:lnT>
                    <a:lnB w="12700" cap="flat" cmpd="sng" algn="ctr">
                      <a:solidFill>
                        <a:srgbClr val="F5EEE6"/>
                      </a:solidFill>
                      <a:prstDash val="solid"/>
                      <a:round/>
                      <a:headEnd type="none" w="med" len="med"/>
                      <a:tailEnd type="none" w="med" len="med"/>
                    </a:lnB>
                    <a:solidFill>
                      <a:srgbClr val="000000">
                        <a:alpha val="4000"/>
                      </a:srgbClr>
                    </a:solidFill>
                  </a:tcPr>
                </a:tc>
                <a:tc>
                  <a:txBody>
                    <a:bodyPr/>
                    <a:lstStyle/>
                    <a:p>
                      <a:pPr algn="l" indent="0" marL="0">
                        <a:buNone/>
                      </a:pPr>
                      <a:r>
                        <a:rPr lang="en-US" sz="900" spc="-18" kern="0" dirty="0">
                          <a:solidFill>
                            <a:srgbClr val="2B2E3C"/>
                          </a:solidFill>
                          <a:latin typeface="Open Sans" pitchFamily="34" charset="0"/>
                          <a:ea typeface="Open Sans" pitchFamily="34" charset="-122"/>
                          <a:cs typeface="Open Sans" pitchFamily="34" charset="-120"/>
                        </a:rPr>
                        <a:t>2</a:t>
                      </a:r>
                      <a:endParaRPr lang="en-US" sz="900" dirty="0">
                        <a:latin typeface="Open Sans" charset="0"/>
                        <a:ea typeface="Open Sans" charset="0"/>
                        <a:cs typeface="Open Sans" charset="0"/>
                      </a:endParaRPr>
                    </a:p>
                  </a:txBody>
                  <a:tcPr marL="115183" marR="115183" marT="6350" marB="6350" anchor="ctr">
                    <a:lnL w="12700" cap="flat" cmpd="sng" algn="ctr">
                      <a:solidFill>
                        <a:srgbClr val="F5EEE6"/>
                      </a:solidFill>
                      <a:prstDash val="solid"/>
                      <a:round/>
                      <a:headEnd type="none" w="med" len="med"/>
                      <a:tailEnd type="none" w="med" len="med"/>
                    </a:lnL>
                    <a:lnR w="12700" cap="flat" cmpd="sng" algn="ctr">
                      <a:solidFill>
                        <a:srgbClr val="F5EEE6"/>
                      </a:solidFill>
                      <a:prstDash val="solid"/>
                      <a:round/>
                      <a:headEnd type="none" w="med" len="med"/>
                      <a:tailEnd type="none" w="med" len="med"/>
                    </a:lnR>
                    <a:lnT w="12700" cap="flat" cmpd="sng" algn="ctr">
                      <a:solidFill>
                        <a:srgbClr val="F5EEE6"/>
                      </a:solidFill>
                      <a:prstDash val="solid"/>
                      <a:round/>
                      <a:headEnd type="none" w="med" len="med"/>
                      <a:tailEnd type="none" w="med" len="med"/>
                    </a:lnT>
                    <a:lnB w="12700" cap="flat" cmpd="sng" algn="ctr">
                      <a:solidFill>
                        <a:srgbClr val="F5EEE6"/>
                      </a:solidFill>
                      <a:prstDash val="solid"/>
                      <a:round/>
                      <a:headEnd type="none" w="med" len="med"/>
                      <a:tailEnd type="none" w="med" len="med"/>
                    </a:lnB>
                    <a:solidFill>
                      <a:srgbClr val="000000">
                        <a:alpha val="4000"/>
                      </a:srgbClr>
                    </a:solidFill>
                  </a:tcPr>
                </a:tc>
                <a:tc>
                  <a:txBody>
                    <a:bodyPr/>
                    <a:lstStyle/>
                    <a:p>
                      <a:pPr algn="l" indent="0" marL="0">
                        <a:buNone/>
                      </a:pPr>
                      <a:r>
                        <a:rPr lang="en-US" sz="900" spc="-18" kern="0" dirty="0">
                          <a:solidFill>
                            <a:srgbClr val="2B2E3C"/>
                          </a:solidFill>
                          <a:latin typeface="Open Sans" pitchFamily="34" charset="0"/>
                          <a:ea typeface="Open Sans" pitchFamily="34" charset="-122"/>
                          <a:cs typeface="Open Sans" pitchFamily="34" charset="-120"/>
                        </a:rPr>
                        <a:t>/30</a:t>
                      </a:r>
                      <a:endParaRPr lang="en-US" sz="900" dirty="0">
                        <a:latin typeface="Open Sans" charset="0"/>
                        <a:ea typeface="Open Sans" charset="0"/>
                        <a:cs typeface="Open Sans" charset="0"/>
                      </a:endParaRPr>
                    </a:p>
                  </a:txBody>
                  <a:tcPr marL="115183" marR="115183" marT="6350" marB="6350" anchor="ctr">
                    <a:lnL w="12700" cap="flat" cmpd="sng" algn="ctr">
                      <a:solidFill>
                        <a:srgbClr val="F5EEE6"/>
                      </a:solidFill>
                      <a:prstDash val="solid"/>
                      <a:round/>
                      <a:headEnd type="none" w="med" len="med"/>
                      <a:tailEnd type="none" w="med" len="med"/>
                    </a:lnL>
                    <a:lnR w="12700" cap="flat" cmpd="sng" algn="ctr">
                      <a:solidFill>
                        <a:srgbClr val="F5EEE6"/>
                      </a:solidFill>
                      <a:prstDash val="solid"/>
                      <a:round/>
                      <a:headEnd type="none" w="med" len="med"/>
                      <a:tailEnd type="none" w="med" len="med"/>
                    </a:lnR>
                    <a:lnT w="12700" cap="flat" cmpd="sng" algn="ctr">
                      <a:solidFill>
                        <a:srgbClr val="F5EEE6"/>
                      </a:solidFill>
                      <a:prstDash val="solid"/>
                      <a:round/>
                      <a:headEnd type="none" w="med" len="med"/>
                      <a:tailEnd type="none" w="med" len="med"/>
                    </a:lnT>
                    <a:lnB w="12700" cap="flat" cmpd="sng" algn="ctr">
                      <a:solidFill>
                        <a:srgbClr val="F5EEE6"/>
                      </a:solidFill>
                      <a:prstDash val="solid"/>
                      <a:round/>
                      <a:headEnd type="none" w="med" len="med"/>
                      <a:tailEnd type="none" w="med" len="med"/>
                    </a:lnB>
                    <a:solidFill>
                      <a:srgbClr val="000000">
                        <a:alpha val="4000"/>
                      </a:srgbClr>
                    </a:solidFill>
                  </a:tcPr>
                </a:tc>
                <a:tc>
                  <a:txBody>
                    <a:bodyPr/>
                    <a:lstStyle/>
                    <a:p>
                      <a:pPr algn="l" indent="0" marL="0">
                        <a:buNone/>
                      </a:pPr>
                      <a:r>
                        <a:rPr lang="en-US" sz="900" spc="-18" kern="0" dirty="0">
                          <a:solidFill>
                            <a:srgbClr val="2B2E3C"/>
                          </a:solidFill>
                          <a:latin typeface="Open Sans" pitchFamily="34" charset="0"/>
                          <a:ea typeface="Open Sans" pitchFamily="34" charset="-122"/>
                          <a:cs typeface="Open Sans" pitchFamily="34" charset="-120"/>
                        </a:rPr>
                        <a:t>192.168.1.96</a:t>
                      </a:r>
                      <a:endParaRPr lang="en-US" sz="900" dirty="0">
                        <a:latin typeface="Open Sans" charset="0"/>
                        <a:ea typeface="Open Sans" charset="0"/>
                        <a:cs typeface="Open Sans" charset="0"/>
                      </a:endParaRPr>
                    </a:p>
                  </a:txBody>
                  <a:tcPr marL="115183" marR="115183" marT="6350" marB="6350" anchor="ctr">
                    <a:lnL w="12700" cap="flat" cmpd="sng" algn="ctr">
                      <a:solidFill>
                        <a:srgbClr val="F5EEE6"/>
                      </a:solidFill>
                      <a:prstDash val="solid"/>
                      <a:round/>
                      <a:headEnd type="none" w="med" len="med"/>
                      <a:tailEnd type="none" w="med" len="med"/>
                    </a:lnL>
                    <a:lnR w="12700" cap="flat" cmpd="sng" algn="ctr">
                      <a:solidFill>
                        <a:srgbClr val="E2C8B5"/>
                      </a:solidFill>
                      <a:prstDash val="solid"/>
                      <a:round/>
                      <a:headEnd type="none" w="med" len="med"/>
                      <a:tailEnd type="none" w="med" len="med"/>
                    </a:lnR>
                    <a:lnT w="12700" cap="flat" cmpd="sng" algn="ctr">
                      <a:solidFill>
                        <a:srgbClr val="F5EEE6"/>
                      </a:solidFill>
                      <a:prstDash val="solid"/>
                      <a:round/>
                      <a:headEnd type="none" w="med" len="med"/>
                      <a:tailEnd type="none" w="med" len="med"/>
                    </a:lnT>
                    <a:lnB w="12700" cap="flat" cmpd="sng" algn="ctr">
                      <a:solidFill>
                        <a:srgbClr val="F5EEE6"/>
                      </a:solidFill>
                      <a:prstDash val="solid"/>
                      <a:round/>
                      <a:headEnd type="none" w="med" len="med"/>
                      <a:tailEnd type="none" w="med" len="med"/>
                    </a:lnB>
                    <a:solidFill>
                      <a:srgbClr val="000000">
                        <a:alpha val="4000"/>
                      </a:srgbClr>
                    </a:solidFill>
                  </a:tcPr>
                </a:tc>
              </a:tr>
              <a:tr h="245064">
                <a:tc>
                  <a:txBody>
                    <a:bodyPr/>
                    <a:lstStyle/>
                    <a:p>
                      <a:pPr algn="l" indent="0" marL="0">
                        <a:buNone/>
                      </a:pPr>
                      <a:r>
                        <a:rPr lang="en-US" sz="900" spc="-18" kern="0" dirty="0">
                          <a:solidFill>
                            <a:srgbClr val="2B2E3C"/>
                          </a:solidFill>
                          <a:latin typeface="Open Sans" pitchFamily="34" charset="0"/>
                          <a:ea typeface="Open Sans" pitchFamily="34" charset="-122"/>
                          <a:cs typeface="Open Sans" pitchFamily="34" charset="-120"/>
                        </a:rPr>
                        <a:t>R7 → R0</a:t>
                      </a:r>
                      <a:endParaRPr lang="en-US" sz="900" dirty="0">
                        <a:latin typeface="Open Sans" charset="0"/>
                        <a:ea typeface="Open Sans" charset="0"/>
                        <a:cs typeface="Open Sans" charset="0"/>
                      </a:endParaRPr>
                    </a:p>
                  </a:txBody>
                  <a:tcPr marL="115183" marR="115183" marT="6350" marB="6350" anchor="ctr">
                    <a:lnL w="12700" cap="flat" cmpd="sng" algn="ctr">
                      <a:solidFill>
                        <a:srgbClr val="E2C8B5"/>
                      </a:solidFill>
                      <a:prstDash val="solid"/>
                      <a:round/>
                      <a:headEnd type="none" w="med" len="med"/>
                      <a:tailEnd type="none" w="med" len="med"/>
                    </a:lnL>
                    <a:lnR w="12700" cap="flat" cmpd="sng" algn="ctr">
                      <a:solidFill>
                        <a:srgbClr val="FFF8F1"/>
                      </a:solidFill>
                      <a:prstDash val="solid"/>
                      <a:round/>
                      <a:headEnd type="none" w="med" len="med"/>
                      <a:tailEnd type="none" w="med" len="med"/>
                    </a:lnR>
                    <a:lnT w="12700" cap="flat" cmpd="sng" algn="ctr">
                      <a:solidFill>
                        <a:srgbClr val="FFF8F1"/>
                      </a:solidFill>
                      <a:prstDash val="solid"/>
                      <a:round/>
                      <a:headEnd type="none" w="med" len="med"/>
                      <a:tailEnd type="none" w="med" len="med"/>
                    </a:lnT>
                    <a:lnB w="12700" cap="flat" cmpd="sng" algn="ctr">
                      <a:solidFill>
                        <a:srgbClr val="FFF8F1"/>
                      </a:solidFill>
                      <a:prstDash val="solid"/>
                      <a:round/>
                      <a:headEnd type="none" w="med" len="med"/>
                      <a:tailEnd type="none" w="med" len="med"/>
                    </a:lnB>
                    <a:solidFill>
                      <a:srgbClr val="FFFFFF">
                        <a:alpha val="4000"/>
                      </a:srgbClr>
                    </a:solidFill>
                  </a:tcPr>
                </a:tc>
                <a:tc>
                  <a:txBody>
                    <a:bodyPr/>
                    <a:lstStyle/>
                    <a:p>
                      <a:pPr algn="l" indent="0" marL="0">
                        <a:buNone/>
                      </a:pPr>
                      <a:r>
                        <a:rPr lang="en-US" sz="900" spc="-18" kern="0" dirty="0">
                          <a:solidFill>
                            <a:srgbClr val="2B2E3C"/>
                          </a:solidFill>
                          <a:latin typeface="Open Sans" pitchFamily="34" charset="0"/>
                          <a:ea typeface="Open Sans" pitchFamily="34" charset="-122"/>
                          <a:cs typeface="Open Sans" pitchFamily="34" charset="-120"/>
                        </a:rPr>
                        <a:t>2</a:t>
                      </a:r>
                      <a:endParaRPr lang="en-US" sz="900" dirty="0">
                        <a:latin typeface="Open Sans" charset="0"/>
                        <a:ea typeface="Open Sans" charset="0"/>
                        <a:cs typeface="Open Sans" charset="0"/>
                      </a:endParaRPr>
                    </a:p>
                  </a:txBody>
                  <a:tcPr marL="115183" marR="115183" marT="6350" marB="6350" anchor="ctr">
                    <a:lnL w="12700" cap="flat" cmpd="sng" algn="ctr">
                      <a:solidFill>
                        <a:srgbClr val="FFF8F1"/>
                      </a:solidFill>
                      <a:prstDash val="solid"/>
                      <a:round/>
                      <a:headEnd type="none" w="med" len="med"/>
                      <a:tailEnd type="none" w="med" len="med"/>
                    </a:lnL>
                    <a:lnR w="12700" cap="flat" cmpd="sng" algn="ctr">
                      <a:solidFill>
                        <a:srgbClr val="FFF8F1"/>
                      </a:solidFill>
                      <a:prstDash val="solid"/>
                      <a:round/>
                      <a:headEnd type="none" w="med" len="med"/>
                      <a:tailEnd type="none" w="med" len="med"/>
                    </a:lnR>
                    <a:lnT w="12700" cap="flat" cmpd="sng" algn="ctr">
                      <a:solidFill>
                        <a:srgbClr val="FFF8F1"/>
                      </a:solidFill>
                      <a:prstDash val="solid"/>
                      <a:round/>
                      <a:headEnd type="none" w="med" len="med"/>
                      <a:tailEnd type="none" w="med" len="med"/>
                    </a:lnT>
                    <a:lnB w="12700" cap="flat" cmpd="sng" algn="ctr">
                      <a:solidFill>
                        <a:srgbClr val="FFF8F1"/>
                      </a:solidFill>
                      <a:prstDash val="solid"/>
                      <a:round/>
                      <a:headEnd type="none" w="med" len="med"/>
                      <a:tailEnd type="none" w="med" len="med"/>
                    </a:lnB>
                    <a:solidFill>
                      <a:srgbClr val="FFFFFF">
                        <a:alpha val="4000"/>
                      </a:srgbClr>
                    </a:solidFill>
                  </a:tcPr>
                </a:tc>
                <a:tc>
                  <a:txBody>
                    <a:bodyPr/>
                    <a:lstStyle/>
                    <a:p>
                      <a:pPr algn="l" indent="0" marL="0">
                        <a:buNone/>
                      </a:pPr>
                      <a:r>
                        <a:rPr lang="en-US" sz="900" spc="-18" kern="0" dirty="0">
                          <a:solidFill>
                            <a:srgbClr val="2B2E3C"/>
                          </a:solidFill>
                          <a:latin typeface="Open Sans" pitchFamily="34" charset="0"/>
                          <a:ea typeface="Open Sans" pitchFamily="34" charset="-122"/>
                          <a:cs typeface="Open Sans" pitchFamily="34" charset="-120"/>
                        </a:rPr>
                        <a:t>/30</a:t>
                      </a:r>
                      <a:endParaRPr lang="en-US" sz="900" dirty="0">
                        <a:latin typeface="Open Sans" charset="0"/>
                        <a:ea typeface="Open Sans" charset="0"/>
                        <a:cs typeface="Open Sans" charset="0"/>
                      </a:endParaRPr>
                    </a:p>
                  </a:txBody>
                  <a:tcPr marL="115183" marR="115183" marT="6350" marB="6350" anchor="ctr">
                    <a:lnL w="12700" cap="flat" cmpd="sng" algn="ctr">
                      <a:solidFill>
                        <a:srgbClr val="FFF8F1"/>
                      </a:solidFill>
                      <a:prstDash val="solid"/>
                      <a:round/>
                      <a:headEnd type="none" w="med" len="med"/>
                      <a:tailEnd type="none" w="med" len="med"/>
                    </a:lnL>
                    <a:lnR w="12700" cap="flat" cmpd="sng" algn="ctr">
                      <a:solidFill>
                        <a:srgbClr val="FFF8F1"/>
                      </a:solidFill>
                      <a:prstDash val="solid"/>
                      <a:round/>
                      <a:headEnd type="none" w="med" len="med"/>
                      <a:tailEnd type="none" w="med" len="med"/>
                    </a:lnR>
                    <a:lnT w="12700" cap="flat" cmpd="sng" algn="ctr">
                      <a:solidFill>
                        <a:srgbClr val="FFF8F1"/>
                      </a:solidFill>
                      <a:prstDash val="solid"/>
                      <a:round/>
                      <a:headEnd type="none" w="med" len="med"/>
                      <a:tailEnd type="none" w="med" len="med"/>
                    </a:lnT>
                    <a:lnB w="12700" cap="flat" cmpd="sng" algn="ctr">
                      <a:solidFill>
                        <a:srgbClr val="FFF8F1"/>
                      </a:solidFill>
                      <a:prstDash val="solid"/>
                      <a:round/>
                      <a:headEnd type="none" w="med" len="med"/>
                      <a:tailEnd type="none" w="med" len="med"/>
                    </a:lnB>
                    <a:solidFill>
                      <a:srgbClr val="FFFFFF">
                        <a:alpha val="4000"/>
                      </a:srgbClr>
                    </a:solidFill>
                  </a:tcPr>
                </a:tc>
                <a:tc>
                  <a:txBody>
                    <a:bodyPr/>
                    <a:lstStyle/>
                    <a:p>
                      <a:pPr algn="l" indent="0" marL="0">
                        <a:buNone/>
                      </a:pPr>
                      <a:r>
                        <a:rPr lang="en-US" sz="900" spc="-18" kern="0" dirty="0">
                          <a:solidFill>
                            <a:srgbClr val="2B2E3C"/>
                          </a:solidFill>
                          <a:latin typeface="Open Sans" pitchFamily="34" charset="0"/>
                          <a:ea typeface="Open Sans" pitchFamily="34" charset="-122"/>
                          <a:cs typeface="Open Sans" pitchFamily="34" charset="-120"/>
                        </a:rPr>
                        <a:t>192.168.1.100</a:t>
                      </a:r>
                      <a:endParaRPr lang="en-US" sz="900" dirty="0">
                        <a:latin typeface="Open Sans" charset="0"/>
                        <a:ea typeface="Open Sans" charset="0"/>
                        <a:cs typeface="Open Sans" charset="0"/>
                      </a:endParaRPr>
                    </a:p>
                  </a:txBody>
                  <a:tcPr marL="115183" marR="115183" marT="6350" marB="6350" anchor="ctr">
                    <a:lnL w="12700" cap="flat" cmpd="sng" algn="ctr">
                      <a:solidFill>
                        <a:srgbClr val="FFF8F1"/>
                      </a:solidFill>
                      <a:prstDash val="solid"/>
                      <a:round/>
                      <a:headEnd type="none" w="med" len="med"/>
                      <a:tailEnd type="none" w="med" len="med"/>
                    </a:lnL>
                    <a:lnR w="12700" cap="flat" cmpd="sng" algn="ctr">
                      <a:solidFill>
                        <a:srgbClr val="E2C8B5"/>
                      </a:solidFill>
                      <a:prstDash val="solid"/>
                      <a:round/>
                      <a:headEnd type="none" w="med" len="med"/>
                      <a:tailEnd type="none" w="med" len="med"/>
                    </a:lnR>
                    <a:lnT w="12700" cap="flat" cmpd="sng" algn="ctr">
                      <a:solidFill>
                        <a:srgbClr val="FFF8F1"/>
                      </a:solidFill>
                      <a:prstDash val="solid"/>
                      <a:round/>
                      <a:headEnd type="none" w="med" len="med"/>
                      <a:tailEnd type="none" w="med" len="med"/>
                    </a:lnT>
                    <a:lnB w="12700" cap="flat" cmpd="sng" algn="ctr">
                      <a:solidFill>
                        <a:srgbClr val="FFF8F1"/>
                      </a:solidFill>
                      <a:prstDash val="solid"/>
                      <a:round/>
                      <a:headEnd type="none" w="med" len="med"/>
                      <a:tailEnd type="none" w="med" len="med"/>
                    </a:lnB>
                    <a:solidFill>
                      <a:srgbClr val="FFFFFF">
                        <a:alpha val="4000"/>
                      </a:srgbClr>
                    </a:solidFill>
                  </a:tcPr>
                </a:tc>
              </a:tr>
              <a:tr h="245064">
                <a:tc>
                  <a:txBody>
                    <a:bodyPr/>
                    <a:lstStyle/>
                    <a:p>
                      <a:pPr algn="l" indent="0" marL="0">
                        <a:buNone/>
                      </a:pPr>
                      <a:r>
                        <a:rPr lang="en-US" sz="900" spc="-18" kern="0" dirty="0">
                          <a:solidFill>
                            <a:srgbClr val="2B2E3C"/>
                          </a:solidFill>
                          <a:latin typeface="Open Sans" pitchFamily="34" charset="0"/>
                          <a:ea typeface="Open Sans" pitchFamily="34" charset="-122"/>
                          <a:cs typeface="Open Sans" pitchFamily="34" charset="-120"/>
                        </a:rPr>
                        <a:t>R7 → R1</a:t>
                      </a:r>
                      <a:endParaRPr lang="en-US" sz="900" dirty="0">
                        <a:latin typeface="Open Sans" charset="0"/>
                        <a:ea typeface="Open Sans" charset="0"/>
                        <a:cs typeface="Open Sans" charset="0"/>
                      </a:endParaRPr>
                    </a:p>
                  </a:txBody>
                  <a:tcPr marL="115183" marR="115183" marT="6350" marB="6350" anchor="ctr">
                    <a:lnL w="12700" cap="flat" cmpd="sng" algn="ctr">
                      <a:solidFill>
                        <a:srgbClr val="E2C8B5"/>
                      </a:solidFill>
                      <a:prstDash val="solid"/>
                      <a:round/>
                      <a:headEnd type="none" w="med" len="med"/>
                      <a:tailEnd type="none" w="med" len="med"/>
                    </a:lnL>
                    <a:lnR w="12700" cap="flat" cmpd="sng" algn="ctr">
                      <a:solidFill>
                        <a:srgbClr val="F5EEE6"/>
                      </a:solidFill>
                      <a:prstDash val="solid"/>
                      <a:round/>
                      <a:headEnd type="none" w="med" len="med"/>
                      <a:tailEnd type="none" w="med" len="med"/>
                    </a:lnR>
                    <a:lnT w="12700" cap="flat" cmpd="sng" algn="ctr">
                      <a:solidFill>
                        <a:srgbClr val="F5EEE6"/>
                      </a:solidFill>
                      <a:prstDash val="solid"/>
                      <a:round/>
                      <a:headEnd type="none" w="med" len="med"/>
                      <a:tailEnd type="none" w="med" len="med"/>
                    </a:lnT>
                    <a:lnB w="12700" cap="flat" cmpd="sng" algn="ctr">
                      <a:solidFill>
                        <a:srgbClr val="F5EEE6"/>
                      </a:solidFill>
                      <a:prstDash val="solid"/>
                      <a:round/>
                      <a:headEnd type="none" w="med" len="med"/>
                      <a:tailEnd type="none" w="med" len="med"/>
                    </a:lnB>
                    <a:solidFill>
                      <a:srgbClr val="000000">
                        <a:alpha val="4000"/>
                      </a:srgbClr>
                    </a:solidFill>
                  </a:tcPr>
                </a:tc>
                <a:tc>
                  <a:txBody>
                    <a:bodyPr/>
                    <a:lstStyle/>
                    <a:p>
                      <a:pPr algn="l" indent="0" marL="0">
                        <a:buNone/>
                      </a:pPr>
                      <a:r>
                        <a:rPr lang="en-US" sz="900" spc="-18" kern="0" dirty="0">
                          <a:solidFill>
                            <a:srgbClr val="2B2E3C"/>
                          </a:solidFill>
                          <a:latin typeface="Open Sans" pitchFamily="34" charset="0"/>
                          <a:ea typeface="Open Sans" pitchFamily="34" charset="-122"/>
                          <a:cs typeface="Open Sans" pitchFamily="34" charset="-120"/>
                        </a:rPr>
                        <a:t>2</a:t>
                      </a:r>
                      <a:endParaRPr lang="en-US" sz="900" dirty="0">
                        <a:latin typeface="Open Sans" charset="0"/>
                        <a:ea typeface="Open Sans" charset="0"/>
                        <a:cs typeface="Open Sans" charset="0"/>
                      </a:endParaRPr>
                    </a:p>
                  </a:txBody>
                  <a:tcPr marL="115183" marR="115183" marT="6350" marB="6350" anchor="ctr">
                    <a:lnL w="12700" cap="flat" cmpd="sng" algn="ctr">
                      <a:solidFill>
                        <a:srgbClr val="F5EEE6"/>
                      </a:solidFill>
                      <a:prstDash val="solid"/>
                      <a:round/>
                      <a:headEnd type="none" w="med" len="med"/>
                      <a:tailEnd type="none" w="med" len="med"/>
                    </a:lnL>
                    <a:lnR w="12700" cap="flat" cmpd="sng" algn="ctr">
                      <a:solidFill>
                        <a:srgbClr val="F5EEE6"/>
                      </a:solidFill>
                      <a:prstDash val="solid"/>
                      <a:round/>
                      <a:headEnd type="none" w="med" len="med"/>
                      <a:tailEnd type="none" w="med" len="med"/>
                    </a:lnR>
                    <a:lnT w="12700" cap="flat" cmpd="sng" algn="ctr">
                      <a:solidFill>
                        <a:srgbClr val="F5EEE6"/>
                      </a:solidFill>
                      <a:prstDash val="solid"/>
                      <a:round/>
                      <a:headEnd type="none" w="med" len="med"/>
                      <a:tailEnd type="none" w="med" len="med"/>
                    </a:lnT>
                    <a:lnB w="12700" cap="flat" cmpd="sng" algn="ctr">
                      <a:solidFill>
                        <a:srgbClr val="F5EEE6"/>
                      </a:solidFill>
                      <a:prstDash val="solid"/>
                      <a:round/>
                      <a:headEnd type="none" w="med" len="med"/>
                      <a:tailEnd type="none" w="med" len="med"/>
                    </a:lnB>
                    <a:solidFill>
                      <a:srgbClr val="000000">
                        <a:alpha val="4000"/>
                      </a:srgbClr>
                    </a:solidFill>
                  </a:tcPr>
                </a:tc>
                <a:tc>
                  <a:txBody>
                    <a:bodyPr/>
                    <a:lstStyle/>
                    <a:p>
                      <a:pPr algn="l" indent="0" marL="0">
                        <a:buNone/>
                      </a:pPr>
                      <a:r>
                        <a:rPr lang="en-US" sz="900" spc="-18" kern="0" dirty="0">
                          <a:solidFill>
                            <a:srgbClr val="2B2E3C"/>
                          </a:solidFill>
                          <a:latin typeface="Open Sans" pitchFamily="34" charset="0"/>
                          <a:ea typeface="Open Sans" pitchFamily="34" charset="-122"/>
                          <a:cs typeface="Open Sans" pitchFamily="34" charset="-120"/>
                        </a:rPr>
                        <a:t>/30</a:t>
                      </a:r>
                      <a:endParaRPr lang="en-US" sz="900" dirty="0">
                        <a:latin typeface="Open Sans" charset="0"/>
                        <a:ea typeface="Open Sans" charset="0"/>
                        <a:cs typeface="Open Sans" charset="0"/>
                      </a:endParaRPr>
                    </a:p>
                  </a:txBody>
                  <a:tcPr marL="115183" marR="115183" marT="6350" marB="6350" anchor="ctr">
                    <a:lnL w="12700" cap="flat" cmpd="sng" algn="ctr">
                      <a:solidFill>
                        <a:srgbClr val="F5EEE6"/>
                      </a:solidFill>
                      <a:prstDash val="solid"/>
                      <a:round/>
                      <a:headEnd type="none" w="med" len="med"/>
                      <a:tailEnd type="none" w="med" len="med"/>
                    </a:lnL>
                    <a:lnR w="12700" cap="flat" cmpd="sng" algn="ctr">
                      <a:solidFill>
                        <a:srgbClr val="F5EEE6"/>
                      </a:solidFill>
                      <a:prstDash val="solid"/>
                      <a:round/>
                      <a:headEnd type="none" w="med" len="med"/>
                      <a:tailEnd type="none" w="med" len="med"/>
                    </a:lnR>
                    <a:lnT w="12700" cap="flat" cmpd="sng" algn="ctr">
                      <a:solidFill>
                        <a:srgbClr val="F5EEE6"/>
                      </a:solidFill>
                      <a:prstDash val="solid"/>
                      <a:round/>
                      <a:headEnd type="none" w="med" len="med"/>
                      <a:tailEnd type="none" w="med" len="med"/>
                    </a:lnT>
                    <a:lnB w="12700" cap="flat" cmpd="sng" algn="ctr">
                      <a:solidFill>
                        <a:srgbClr val="F5EEE6"/>
                      </a:solidFill>
                      <a:prstDash val="solid"/>
                      <a:round/>
                      <a:headEnd type="none" w="med" len="med"/>
                      <a:tailEnd type="none" w="med" len="med"/>
                    </a:lnB>
                    <a:solidFill>
                      <a:srgbClr val="000000">
                        <a:alpha val="4000"/>
                      </a:srgbClr>
                    </a:solidFill>
                  </a:tcPr>
                </a:tc>
                <a:tc>
                  <a:txBody>
                    <a:bodyPr/>
                    <a:lstStyle/>
                    <a:p>
                      <a:pPr algn="l" indent="0" marL="0">
                        <a:buNone/>
                      </a:pPr>
                      <a:r>
                        <a:rPr lang="en-US" sz="900" spc="-18" kern="0" dirty="0">
                          <a:solidFill>
                            <a:srgbClr val="2B2E3C"/>
                          </a:solidFill>
                          <a:latin typeface="Open Sans" pitchFamily="34" charset="0"/>
                          <a:ea typeface="Open Sans" pitchFamily="34" charset="-122"/>
                          <a:cs typeface="Open Sans" pitchFamily="34" charset="-120"/>
                        </a:rPr>
                        <a:t>192.168.1.104</a:t>
                      </a:r>
                      <a:endParaRPr lang="en-US" sz="900" dirty="0">
                        <a:latin typeface="Open Sans" charset="0"/>
                        <a:ea typeface="Open Sans" charset="0"/>
                        <a:cs typeface="Open Sans" charset="0"/>
                      </a:endParaRPr>
                    </a:p>
                  </a:txBody>
                  <a:tcPr marL="115183" marR="115183" marT="6350" marB="6350" anchor="ctr">
                    <a:lnL w="12700" cap="flat" cmpd="sng" algn="ctr">
                      <a:solidFill>
                        <a:srgbClr val="F5EEE6"/>
                      </a:solidFill>
                      <a:prstDash val="solid"/>
                      <a:round/>
                      <a:headEnd type="none" w="med" len="med"/>
                      <a:tailEnd type="none" w="med" len="med"/>
                    </a:lnL>
                    <a:lnR w="12700" cap="flat" cmpd="sng" algn="ctr">
                      <a:solidFill>
                        <a:srgbClr val="E2C8B5"/>
                      </a:solidFill>
                      <a:prstDash val="solid"/>
                      <a:round/>
                      <a:headEnd type="none" w="med" len="med"/>
                      <a:tailEnd type="none" w="med" len="med"/>
                    </a:lnR>
                    <a:lnT w="12700" cap="flat" cmpd="sng" algn="ctr">
                      <a:solidFill>
                        <a:srgbClr val="F5EEE6"/>
                      </a:solidFill>
                      <a:prstDash val="solid"/>
                      <a:round/>
                      <a:headEnd type="none" w="med" len="med"/>
                      <a:tailEnd type="none" w="med" len="med"/>
                    </a:lnT>
                    <a:lnB w="12700" cap="flat" cmpd="sng" algn="ctr">
                      <a:solidFill>
                        <a:srgbClr val="F5EEE6"/>
                      </a:solidFill>
                      <a:prstDash val="solid"/>
                      <a:round/>
                      <a:headEnd type="none" w="med" len="med"/>
                      <a:tailEnd type="none" w="med" len="med"/>
                    </a:lnB>
                    <a:solidFill>
                      <a:srgbClr val="000000">
                        <a:alpha val="4000"/>
                      </a:srgbClr>
                    </a:solidFill>
                  </a:tcPr>
                </a:tc>
              </a:tr>
              <a:tr h="245064">
                <a:tc>
                  <a:txBody>
                    <a:bodyPr/>
                    <a:lstStyle/>
                    <a:p>
                      <a:pPr algn="l" indent="0" marL="0">
                        <a:buNone/>
                      </a:pPr>
                      <a:r>
                        <a:rPr lang="en-US" sz="900" spc="-18" kern="0" dirty="0">
                          <a:solidFill>
                            <a:srgbClr val="2B2E3C"/>
                          </a:solidFill>
                          <a:latin typeface="Open Sans" pitchFamily="34" charset="0"/>
                          <a:ea typeface="Open Sans" pitchFamily="34" charset="-122"/>
                          <a:cs typeface="Open Sans" pitchFamily="34" charset="-120"/>
                        </a:rPr>
                        <a:t>R1 → R4</a:t>
                      </a:r>
                      <a:endParaRPr lang="en-US" sz="900" dirty="0">
                        <a:latin typeface="Open Sans" charset="0"/>
                        <a:ea typeface="Open Sans" charset="0"/>
                        <a:cs typeface="Open Sans" charset="0"/>
                      </a:endParaRPr>
                    </a:p>
                  </a:txBody>
                  <a:tcPr marL="115183" marR="115183" marT="6350" marB="6350" anchor="ctr">
                    <a:lnL w="12700" cap="flat" cmpd="sng" algn="ctr">
                      <a:solidFill>
                        <a:srgbClr val="E2C8B5"/>
                      </a:solidFill>
                      <a:prstDash val="solid"/>
                      <a:round/>
                      <a:headEnd type="none" w="med" len="med"/>
                      <a:tailEnd type="none" w="med" len="med"/>
                    </a:lnL>
                    <a:lnR w="12700" cap="flat" cmpd="sng" algn="ctr">
                      <a:solidFill>
                        <a:srgbClr val="FFF8F1"/>
                      </a:solidFill>
                      <a:prstDash val="solid"/>
                      <a:round/>
                      <a:headEnd type="none" w="med" len="med"/>
                      <a:tailEnd type="none" w="med" len="med"/>
                    </a:lnR>
                    <a:lnT w="12700" cap="flat" cmpd="sng" algn="ctr">
                      <a:solidFill>
                        <a:srgbClr val="FFF8F1"/>
                      </a:solidFill>
                      <a:prstDash val="solid"/>
                      <a:round/>
                      <a:headEnd type="none" w="med" len="med"/>
                      <a:tailEnd type="none" w="med" len="med"/>
                    </a:lnT>
                    <a:lnB w="12700" cap="flat" cmpd="sng" algn="ctr">
                      <a:solidFill>
                        <a:srgbClr val="FFF8F1"/>
                      </a:solidFill>
                      <a:prstDash val="solid"/>
                      <a:round/>
                      <a:headEnd type="none" w="med" len="med"/>
                      <a:tailEnd type="none" w="med" len="med"/>
                    </a:lnB>
                    <a:solidFill>
                      <a:srgbClr val="FFFFFF">
                        <a:alpha val="4000"/>
                      </a:srgbClr>
                    </a:solidFill>
                  </a:tcPr>
                </a:tc>
                <a:tc>
                  <a:txBody>
                    <a:bodyPr/>
                    <a:lstStyle/>
                    <a:p>
                      <a:pPr algn="l" indent="0" marL="0">
                        <a:buNone/>
                      </a:pPr>
                      <a:r>
                        <a:rPr lang="en-US" sz="900" spc="-18" kern="0" dirty="0">
                          <a:solidFill>
                            <a:srgbClr val="2B2E3C"/>
                          </a:solidFill>
                          <a:latin typeface="Open Sans" pitchFamily="34" charset="0"/>
                          <a:ea typeface="Open Sans" pitchFamily="34" charset="-122"/>
                          <a:cs typeface="Open Sans" pitchFamily="34" charset="-120"/>
                        </a:rPr>
                        <a:t>2</a:t>
                      </a:r>
                      <a:endParaRPr lang="en-US" sz="900" dirty="0">
                        <a:latin typeface="Open Sans" charset="0"/>
                        <a:ea typeface="Open Sans" charset="0"/>
                        <a:cs typeface="Open Sans" charset="0"/>
                      </a:endParaRPr>
                    </a:p>
                  </a:txBody>
                  <a:tcPr marL="115183" marR="115183" marT="6350" marB="6350" anchor="ctr">
                    <a:lnL w="12700" cap="flat" cmpd="sng" algn="ctr">
                      <a:solidFill>
                        <a:srgbClr val="FFF8F1"/>
                      </a:solidFill>
                      <a:prstDash val="solid"/>
                      <a:round/>
                      <a:headEnd type="none" w="med" len="med"/>
                      <a:tailEnd type="none" w="med" len="med"/>
                    </a:lnL>
                    <a:lnR w="12700" cap="flat" cmpd="sng" algn="ctr">
                      <a:solidFill>
                        <a:srgbClr val="FFF8F1"/>
                      </a:solidFill>
                      <a:prstDash val="solid"/>
                      <a:round/>
                      <a:headEnd type="none" w="med" len="med"/>
                      <a:tailEnd type="none" w="med" len="med"/>
                    </a:lnR>
                    <a:lnT w="12700" cap="flat" cmpd="sng" algn="ctr">
                      <a:solidFill>
                        <a:srgbClr val="FFF8F1"/>
                      </a:solidFill>
                      <a:prstDash val="solid"/>
                      <a:round/>
                      <a:headEnd type="none" w="med" len="med"/>
                      <a:tailEnd type="none" w="med" len="med"/>
                    </a:lnT>
                    <a:lnB w="12700" cap="flat" cmpd="sng" algn="ctr">
                      <a:solidFill>
                        <a:srgbClr val="FFF8F1"/>
                      </a:solidFill>
                      <a:prstDash val="solid"/>
                      <a:round/>
                      <a:headEnd type="none" w="med" len="med"/>
                      <a:tailEnd type="none" w="med" len="med"/>
                    </a:lnB>
                    <a:solidFill>
                      <a:srgbClr val="FFFFFF">
                        <a:alpha val="4000"/>
                      </a:srgbClr>
                    </a:solidFill>
                  </a:tcPr>
                </a:tc>
                <a:tc>
                  <a:txBody>
                    <a:bodyPr/>
                    <a:lstStyle/>
                    <a:p>
                      <a:pPr algn="l" indent="0" marL="0">
                        <a:buNone/>
                      </a:pPr>
                      <a:r>
                        <a:rPr lang="en-US" sz="900" spc="-18" kern="0" dirty="0">
                          <a:solidFill>
                            <a:srgbClr val="2B2E3C"/>
                          </a:solidFill>
                          <a:latin typeface="Open Sans" pitchFamily="34" charset="0"/>
                          <a:ea typeface="Open Sans" pitchFamily="34" charset="-122"/>
                          <a:cs typeface="Open Sans" pitchFamily="34" charset="-120"/>
                        </a:rPr>
                        <a:t>/30</a:t>
                      </a:r>
                      <a:endParaRPr lang="en-US" sz="900" dirty="0">
                        <a:latin typeface="Open Sans" charset="0"/>
                        <a:ea typeface="Open Sans" charset="0"/>
                        <a:cs typeface="Open Sans" charset="0"/>
                      </a:endParaRPr>
                    </a:p>
                  </a:txBody>
                  <a:tcPr marL="115183" marR="115183" marT="6350" marB="6350" anchor="ctr">
                    <a:lnL w="12700" cap="flat" cmpd="sng" algn="ctr">
                      <a:solidFill>
                        <a:srgbClr val="FFF8F1"/>
                      </a:solidFill>
                      <a:prstDash val="solid"/>
                      <a:round/>
                      <a:headEnd type="none" w="med" len="med"/>
                      <a:tailEnd type="none" w="med" len="med"/>
                    </a:lnL>
                    <a:lnR w="12700" cap="flat" cmpd="sng" algn="ctr">
                      <a:solidFill>
                        <a:srgbClr val="FFF8F1"/>
                      </a:solidFill>
                      <a:prstDash val="solid"/>
                      <a:round/>
                      <a:headEnd type="none" w="med" len="med"/>
                      <a:tailEnd type="none" w="med" len="med"/>
                    </a:lnR>
                    <a:lnT w="12700" cap="flat" cmpd="sng" algn="ctr">
                      <a:solidFill>
                        <a:srgbClr val="FFF8F1"/>
                      </a:solidFill>
                      <a:prstDash val="solid"/>
                      <a:round/>
                      <a:headEnd type="none" w="med" len="med"/>
                      <a:tailEnd type="none" w="med" len="med"/>
                    </a:lnT>
                    <a:lnB w="12700" cap="flat" cmpd="sng" algn="ctr">
                      <a:solidFill>
                        <a:srgbClr val="FFF8F1"/>
                      </a:solidFill>
                      <a:prstDash val="solid"/>
                      <a:round/>
                      <a:headEnd type="none" w="med" len="med"/>
                      <a:tailEnd type="none" w="med" len="med"/>
                    </a:lnB>
                    <a:solidFill>
                      <a:srgbClr val="FFFFFF">
                        <a:alpha val="4000"/>
                      </a:srgbClr>
                    </a:solidFill>
                  </a:tcPr>
                </a:tc>
                <a:tc>
                  <a:txBody>
                    <a:bodyPr/>
                    <a:lstStyle/>
                    <a:p>
                      <a:pPr algn="l" indent="0" marL="0">
                        <a:buNone/>
                      </a:pPr>
                      <a:r>
                        <a:rPr lang="en-US" sz="900" spc="-18" kern="0" dirty="0">
                          <a:solidFill>
                            <a:srgbClr val="2B2E3C"/>
                          </a:solidFill>
                          <a:latin typeface="Open Sans" pitchFamily="34" charset="0"/>
                          <a:ea typeface="Open Sans" pitchFamily="34" charset="-122"/>
                          <a:cs typeface="Open Sans" pitchFamily="34" charset="-120"/>
                        </a:rPr>
                        <a:t>192.168.1.108</a:t>
                      </a:r>
                      <a:endParaRPr lang="en-US" sz="900" dirty="0">
                        <a:latin typeface="Open Sans" charset="0"/>
                        <a:ea typeface="Open Sans" charset="0"/>
                        <a:cs typeface="Open Sans" charset="0"/>
                      </a:endParaRPr>
                    </a:p>
                  </a:txBody>
                  <a:tcPr marL="115183" marR="115183" marT="6350" marB="6350" anchor="ctr">
                    <a:lnL w="12700" cap="flat" cmpd="sng" algn="ctr">
                      <a:solidFill>
                        <a:srgbClr val="FFF8F1"/>
                      </a:solidFill>
                      <a:prstDash val="solid"/>
                      <a:round/>
                      <a:headEnd type="none" w="med" len="med"/>
                      <a:tailEnd type="none" w="med" len="med"/>
                    </a:lnL>
                    <a:lnR w="12700" cap="flat" cmpd="sng" algn="ctr">
                      <a:solidFill>
                        <a:srgbClr val="E2C8B5"/>
                      </a:solidFill>
                      <a:prstDash val="solid"/>
                      <a:round/>
                      <a:headEnd type="none" w="med" len="med"/>
                      <a:tailEnd type="none" w="med" len="med"/>
                    </a:lnR>
                    <a:lnT w="12700" cap="flat" cmpd="sng" algn="ctr">
                      <a:solidFill>
                        <a:srgbClr val="FFF8F1"/>
                      </a:solidFill>
                      <a:prstDash val="solid"/>
                      <a:round/>
                      <a:headEnd type="none" w="med" len="med"/>
                      <a:tailEnd type="none" w="med" len="med"/>
                    </a:lnT>
                    <a:lnB w="12700" cap="flat" cmpd="sng" algn="ctr">
                      <a:solidFill>
                        <a:srgbClr val="FFF8F1"/>
                      </a:solidFill>
                      <a:prstDash val="solid"/>
                      <a:round/>
                      <a:headEnd type="none" w="med" len="med"/>
                      <a:tailEnd type="none" w="med" len="med"/>
                    </a:lnB>
                    <a:solidFill>
                      <a:srgbClr val="FFFFFF">
                        <a:alpha val="4000"/>
                      </a:srgbClr>
                    </a:solidFill>
                  </a:tcPr>
                </a:tc>
              </a:tr>
              <a:tr h="245064">
                <a:tc>
                  <a:txBody>
                    <a:bodyPr/>
                    <a:lstStyle/>
                    <a:p>
                      <a:pPr algn="l" indent="0" marL="0">
                        <a:buNone/>
                      </a:pPr>
                      <a:r>
                        <a:rPr lang="en-US" sz="900" spc="-18" kern="0" dirty="0">
                          <a:solidFill>
                            <a:srgbClr val="2B2E3C"/>
                          </a:solidFill>
                          <a:latin typeface="Open Sans" pitchFamily="34" charset="0"/>
                          <a:ea typeface="Open Sans" pitchFamily="34" charset="-122"/>
                          <a:cs typeface="Open Sans" pitchFamily="34" charset="-120"/>
                        </a:rPr>
                        <a:t>R1 → R6</a:t>
                      </a:r>
                      <a:endParaRPr lang="en-US" sz="900" dirty="0">
                        <a:latin typeface="Open Sans" charset="0"/>
                        <a:ea typeface="Open Sans" charset="0"/>
                        <a:cs typeface="Open Sans" charset="0"/>
                      </a:endParaRPr>
                    </a:p>
                  </a:txBody>
                  <a:tcPr marL="115183" marR="115183" marT="6350" marB="6350" anchor="ctr">
                    <a:lnL w="12700" cap="flat" cmpd="sng" algn="ctr">
                      <a:solidFill>
                        <a:srgbClr val="E2C8B5"/>
                      </a:solidFill>
                      <a:prstDash val="solid"/>
                      <a:round/>
                      <a:headEnd type="none" w="med" len="med"/>
                      <a:tailEnd type="none" w="med" len="med"/>
                    </a:lnL>
                    <a:lnR w="12700" cap="flat" cmpd="sng" algn="ctr">
                      <a:solidFill>
                        <a:srgbClr val="F5EEE6"/>
                      </a:solidFill>
                      <a:prstDash val="solid"/>
                      <a:round/>
                      <a:headEnd type="none" w="med" len="med"/>
                      <a:tailEnd type="none" w="med" len="med"/>
                    </a:lnR>
                    <a:lnT w="12700" cap="flat" cmpd="sng" algn="ctr">
                      <a:solidFill>
                        <a:srgbClr val="F5EEE6"/>
                      </a:solidFill>
                      <a:prstDash val="solid"/>
                      <a:round/>
                      <a:headEnd type="none" w="med" len="med"/>
                      <a:tailEnd type="none" w="med" len="med"/>
                    </a:lnT>
                    <a:lnB w="12700" cap="flat" cmpd="sng" algn="ctr">
                      <a:solidFill>
                        <a:srgbClr val="F5EEE6"/>
                      </a:solidFill>
                      <a:prstDash val="solid"/>
                      <a:round/>
                      <a:headEnd type="none" w="med" len="med"/>
                      <a:tailEnd type="none" w="med" len="med"/>
                    </a:lnB>
                    <a:solidFill>
                      <a:srgbClr val="000000">
                        <a:alpha val="4000"/>
                      </a:srgbClr>
                    </a:solidFill>
                  </a:tcPr>
                </a:tc>
                <a:tc>
                  <a:txBody>
                    <a:bodyPr/>
                    <a:lstStyle/>
                    <a:p>
                      <a:pPr algn="l" indent="0" marL="0">
                        <a:buNone/>
                      </a:pPr>
                      <a:r>
                        <a:rPr lang="en-US" sz="900" spc="-18" kern="0" dirty="0">
                          <a:solidFill>
                            <a:srgbClr val="2B2E3C"/>
                          </a:solidFill>
                          <a:latin typeface="Open Sans" pitchFamily="34" charset="0"/>
                          <a:ea typeface="Open Sans" pitchFamily="34" charset="-122"/>
                          <a:cs typeface="Open Sans" pitchFamily="34" charset="-120"/>
                        </a:rPr>
                        <a:t>2</a:t>
                      </a:r>
                      <a:endParaRPr lang="en-US" sz="900" dirty="0">
                        <a:latin typeface="Open Sans" charset="0"/>
                        <a:ea typeface="Open Sans" charset="0"/>
                        <a:cs typeface="Open Sans" charset="0"/>
                      </a:endParaRPr>
                    </a:p>
                  </a:txBody>
                  <a:tcPr marL="115183" marR="115183" marT="6350" marB="6350" anchor="ctr">
                    <a:lnL w="12700" cap="flat" cmpd="sng" algn="ctr">
                      <a:solidFill>
                        <a:srgbClr val="F5EEE6"/>
                      </a:solidFill>
                      <a:prstDash val="solid"/>
                      <a:round/>
                      <a:headEnd type="none" w="med" len="med"/>
                      <a:tailEnd type="none" w="med" len="med"/>
                    </a:lnL>
                    <a:lnR w="12700" cap="flat" cmpd="sng" algn="ctr">
                      <a:solidFill>
                        <a:srgbClr val="F5EEE6"/>
                      </a:solidFill>
                      <a:prstDash val="solid"/>
                      <a:round/>
                      <a:headEnd type="none" w="med" len="med"/>
                      <a:tailEnd type="none" w="med" len="med"/>
                    </a:lnR>
                    <a:lnT w="12700" cap="flat" cmpd="sng" algn="ctr">
                      <a:solidFill>
                        <a:srgbClr val="F5EEE6"/>
                      </a:solidFill>
                      <a:prstDash val="solid"/>
                      <a:round/>
                      <a:headEnd type="none" w="med" len="med"/>
                      <a:tailEnd type="none" w="med" len="med"/>
                    </a:lnT>
                    <a:lnB w="12700" cap="flat" cmpd="sng" algn="ctr">
                      <a:solidFill>
                        <a:srgbClr val="F5EEE6"/>
                      </a:solidFill>
                      <a:prstDash val="solid"/>
                      <a:round/>
                      <a:headEnd type="none" w="med" len="med"/>
                      <a:tailEnd type="none" w="med" len="med"/>
                    </a:lnB>
                    <a:solidFill>
                      <a:srgbClr val="000000">
                        <a:alpha val="4000"/>
                      </a:srgbClr>
                    </a:solidFill>
                  </a:tcPr>
                </a:tc>
                <a:tc>
                  <a:txBody>
                    <a:bodyPr/>
                    <a:lstStyle/>
                    <a:p>
                      <a:pPr algn="l" indent="0" marL="0">
                        <a:buNone/>
                      </a:pPr>
                      <a:r>
                        <a:rPr lang="en-US" sz="900" spc="-18" kern="0" dirty="0">
                          <a:solidFill>
                            <a:srgbClr val="2B2E3C"/>
                          </a:solidFill>
                          <a:latin typeface="Open Sans" pitchFamily="34" charset="0"/>
                          <a:ea typeface="Open Sans" pitchFamily="34" charset="-122"/>
                          <a:cs typeface="Open Sans" pitchFamily="34" charset="-120"/>
                        </a:rPr>
                        <a:t>/30</a:t>
                      </a:r>
                      <a:endParaRPr lang="en-US" sz="900" dirty="0">
                        <a:latin typeface="Open Sans" charset="0"/>
                        <a:ea typeface="Open Sans" charset="0"/>
                        <a:cs typeface="Open Sans" charset="0"/>
                      </a:endParaRPr>
                    </a:p>
                  </a:txBody>
                  <a:tcPr marL="115183" marR="115183" marT="6350" marB="6350" anchor="ctr">
                    <a:lnL w="12700" cap="flat" cmpd="sng" algn="ctr">
                      <a:solidFill>
                        <a:srgbClr val="F5EEE6"/>
                      </a:solidFill>
                      <a:prstDash val="solid"/>
                      <a:round/>
                      <a:headEnd type="none" w="med" len="med"/>
                      <a:tailEnd type="none" w="med" len="med"/>
                    </a:lnL>
                    <a:lnR w="12700" cap="flat" cmpd="sng" algn="ctr">
                      <a:solidFill>
                        <a:srgbClr val="F5EEE6"/>
                      </a:solidFill>
                      <a:prstDash val="solid"/>
                      <a:round/>
                      <a:headEnd type="none" w="med" len="med"/>
                      <a:tailEnd type="none" w="med" len="med"/>
                    </a:lnR>
                    <a:lnT w="12700" cap="flat" cmpd="sng" algn="ctr">
                      <a:solidFill>
                        <a:srgbClr val="F5EEE6"/>
                      </a:solidFill>
                      <a:prstDash val="solid"/>
                      <a:round/>
                      <a:headEnd type="none" w="med" len="med"/>
                      <a:tailEnd type="none" w="med" len="med"/>
                    </a:lnT>
                    <a:lnB w="12700" cap="flat" cmpd="sng" algn="ctr">
                      <a:solidFill>
                        <a:srgbClr val="F5EEE6"/>
                      </a:solidFill>
                      <a:prstDash val="solid"/>
                      <a:round/>
                      <a:headEnd type="none" w="med" len="med"/>
                      <a:tailEnd type="none" w="med" len="med"/>
                    </a:lnB>
                    <a:solidFill>
                      <a:srgbClr val="000000">
                        <a:alpha val="4000"/>
                      </a:srgbClr>
                    </a:solidFill>
                  </a:tcPr>
                </a:tc>
                <a:tc>
                  <a:txBody>
                    <a:bodyPr/>
                    <a:lstStyle/>
                    <a:p>
                      <a:pPr algn="l" indent="0" marL="0">
                        <a:buNone/>
                      </a:pPr>
                      <a:r>
                        <a:rPr lang="en-US" sz="900" spc="-18" kern="0" dirty="0">
                          <a:solidFill>
                            <a:srgbClr val="2B2E3C"/>
                          </a:solidFill>
                          <a:latin typeface="Open Sans" pitchFamily="34" charset="0"/>
                          <a:ea typeface="Open Sans" pitchFamily="34" charset="-122"/>
                          <a:cs typeface="Open Sans" pitchFamily="34" charset="-120"/>
                        </a:rPr>
                        <a:t>192.168.1.112</a:t>
                      </a:r>
                      <a:endParaRPr lang="en-US" sz="900" dirty="0">
                        <a:latin typeface="Open Sans" charset="0"/>
                        <a:ea typeface="Open Sans" charset="0"/>
                        <a:cs typeface="Open Sans" charset="0"/>
                      </a:endParaRPr>
                    </a:p>
                  </a:txBody>
                  <a:tcPr marL="115183" marR="115183" marT="6350" marB="6350" anchor="ctr">
                    <a:lnL w="12700" cap="flat" cmpd="sng" algn="ctr">
                      <a:solidFill>
                        <a:srgbClr val="F5EEE6"/>
                      </a:solidFill>
                      <a:prstDash val="solid"/>
                      <a:round/>
                      <a:headEnd type="none" w="med" len="med"/>
                      <a:tailEnd type="none" w="med" len="med"/>
                    </a:lnL>
                    <a:lnR w="12700" cap="flat" cmpd="sng" algn="ctr">
                      <a:solidFill>
                        <a:srgbClr val="E2C8B5"/>
                      </a:solidFill>
                      <a:prstDash val="solid"/>
                      <a:round/>
                      <a:headEnd type="none" w="med" len="med"/>
                      <a:tailEnd type="none" w="med" len="med"/>
                    </a:lnR>
                    <a:lnT w="12700" cap="flat" cmpd="sng" algn="ctr">
                      <a:solidFill>
                        <a:srgbClr val="F5EEE6"/>
                      </a:solidFill>
                      <a:prstDash val="solid"/>
                      <a:round/>
                      <a:headEnd type="none" w="med" len="med"/>
                      <a:tailEnd type="none" w="med" len="med"/>
                    </a:lnT>
                    <a:lnB w="12700" cap="flat" cmpd="sng" algn="ctr">
                      <a:solidFill>
                        <a:srgbClr val="F5EEE6"/>
                      </a:solidFill>
                      <a:prstDash val="solid"/>
                      <a:round/>
                      <a:headEnd type="none" w="med" len="med"/>
                      <a:tailEnd type="none" w="med" len="med"/>
                    </a:lnB>
                    <a:solidFill>
                      <a:srgbClr val="000000">
                        <a:alpha val="4000"/>
                      </a:srgbClr>
                    </a:solidFill>
                  </a:tcPr>
                </a:tc>
              </a:tr>
              <a:tr h="245064">
                <a:tc>
                  <a:txBody>
                    <a:bodyPr/>
                    <a:lstStyle/>
                    <a:p>
                      <a:pPr algn="l" indent="0" marL="0">
                        <a:buNone/>
                      </a:pPr>
                      <a:r>
                        <a:rPr lang="en-US" sz="900" spc="-18" kern="0" dirty="0">
                          <a:solidFill>
                            <a:srgbClr val="2B2E3C"/>
                          </a:solidFill>
                          <a:latin typeface="Open Sans" pitchFamily="34" charset="0"/>
                          <a:ea typeface="Open Sans" pitchFamily="34" charset="-122"/>
                          <a:cs typeface="Open Sans" pitchFamily="34" charset="-120"/>
                        </a:rPr>
                        <a:t>R1 → R2</a:t>
                      </a:r>
                      <a:endParaRPr lang="en-US" sz="900" dirty="0">
                        <a:latin typeface="Open Sans" charset="0"/>
                        <a:ea typeface="Open Sans" charset="0"/>
                        <a:cs typeface="Open Sans" charset="0"/>
                      </a:endParaRPr>
                    </a:p>
                  </a:txBody>
                  <a:tcPr marL="115183" marR="115183" marT="6350" marB="6350" anchor="ctr">
                    <a:lnL w="12700" cap="flat" cmpd="sng" algn="ctr">
                      <a:solidFill>
                        <a:srgbClr val="E2C8B5"/>
                      </a:solidFill>
                      <a:prstDash val="solid"/>
                      <a:round/>
                      <a:headEnd type="none" w="med" len="med"/>
                      <a:tailEnd type="none" w="med" len="med"/>
                    </a:lnL>
                    <a:lnR w="12700" cap="flat" cmpd="sng" algn="ctr">
                      <a:solidFill>
                        <a:srgbClr val="FFF8F1"/>
                      </a:solidFill>
                      <a:prstDash val="solid"/>
                      <a:round/>
                      <a:headEnd type="none" w="med" len="med"/>
                      <a:tailEnd type="none" w="med" len="med"/>
                    </a:lnR>
                    <a:lnT w="12700" cap="flat" cmpd="sng" algn="ctr">
                      <a:solidFill>
                        <a:srgbClr val="FFF8F1"/>
                      </a:solidFill>
                      <a:prstDash val="solid"/>
                      <a:round/>
                      <a:headEnd type="none" w="med" len="med"/>
                      <a:tailEnd type="none" w="med" len="med"/>
                    </a:lnT>
                    <a:lnB w="12700" cap="flat" cmpd="sng" algn="ctr">
                      <a:solidFill>
                        <a:srgbClr val="E2C8B5"/>
                      </a:solidFill>
                      <a:prstDash val="solid"/>
                      <a:round/>
                      <a:headEnd type="none" w="med" len="med"/>
                      <a:tailEnd type="none" w="med" len="med"/>
                    </a:lnB>
                    <a:solidFill>
                      <a:srgbClr val="FFFFFF">
                        <a:alpha val="4000"/>
                      </a:srgbClr>
                    </a:solidFill>
                  </a:tcPr>
                </a:tc>
                <a:tc>
                  <a:txBody>
                    <a:bodyPr/>
                    <a:lstStyle/>
                    <a:p>
                      <a:pPr algn="l" indent="0" marL="0">
                        <a:buNone/>
                      </a:pPr>
                      <a:r>
                        <a:rPr lang="en-US" sz="900" spc="-18" kern="0" dirty="0">
                          <a:solidFill>
                            <a:srgbClr val="2B2E3C"/>
                          </a:solidFill>
                          <a:latin typeface="Open Sans" pitchFamily="34" charset="0"/>
                          <a:ea typeface="Open Sans" pitchFamily="34" charset="-122"/>
                          <a:cs typeface="Open Sans" pitchFamily="34" charset="-120"/>
                        </a:rPr>
                        <a:t>2</a:t>
                      </a:r>
                      <a:endParaRPr lang="en-US" sz="900" dirty="0">
                        <a:latin typeface="Open Sans" charset="0"/>
                        <a:ea typeface="Open Sans" charset="0"/>
                        <a:cs typeface="Open Sans" charset="0"/>
                      </a:endParaRPr>
                    </a:p>
                  </a:txBody>
                  <a:tcPr marL="115183" marR="115183" marT="6350" marB="6350" anchor="ctr">
                    <a:lnL w="12700" cap="flat" cmpd="sng" algn="ctr">
                      <a:solidFill>
                        <a:srgbClr val="FFF8F1"/>
                      </a:solidFill>
                      <a:prstDash val="solid"/>
                      <a:round/>
                      <a:headEnd type="none" w="med" len="med"/>
                      <a:tailEnd type="none" w="med" len="med"/>
                    </a:lnL>
                    <a:lnR w="12700" cap="flat" cmpd="sng" algn="ctr">
                      <a:solidFill>
                        <a:srgbClr val="FFF8F1"/>
                      </a:solidFill>
                      <a:prstDash val="solid"/>
                      <a:round/>
                      <a:headEnd type="none" w="med" len="med"/>
                      <a:tailEnd type="none" w="med" len="med"/>
                    </a:lnR>
                    <a:lnT w="12700" cap="flat" cmpd="sng" algn="ctr">
                      <a:solidFill>
                        <a:srgbClr val="FFF8F1"/>
                      </a:solidFill>
                      <a:prstDash val="solid"/>
                      <a:round/>
                      <a:headEnd type="none" w="med" len="med"/>
                      <a:tailEnd type="none" w="med" len="med"/>
                    </a:lnT>
                    <a:lnB w="12700" cap="flat" cmpd="sng" algn="ctr">
                      <a:solidFill>
                        <a:srgbClr val="E2C8B5"/>
                      </a:solidFill>
                      <a:prstDash val="solid"/>
                      <a:round/>
                      <a:headEnd type="none" w="med" len="med"/>
                      <a:tailEnd type="none" w="med" len="med"/>
                    </a:lnB>
                    <a:solidFill>
                      <a:srgbClr val="FFFFFF">
                        <a:alpha val="4000"/>
                      </a:srgbClr>
                    </a:solidFill>
                  </a:tcPr>
                </a:tc>
                <a:tc>
                  <a:txBody>
                    <a:bodyPr/>
                    <a:lstStyle/>
                    <a:p>
                      <a:pPr algn="l" indent="0" marL="0">
                        <a:buNone/>
                      </a:pPr>
                      <a:r>
                        <a:rPr lang="en-US" sz="900" spc="-18" kern="0" dirty="0">
                          <a:solidFill>
                            <a:srgbClr val="2B2E3C"/>
                          </a:solidFill>
                          <a:latin typeface="Open Sans" pitchFamily="34" charset="0"/>
                          <a:ea typeface="Open Sans" pitchFamily="34" charset="-122"/>
                          <a:cs typeface="Open Sans" pitchFamily="34" charset="-120"/>
                        </a:rPr>
                        <a:t>/30</a:t>
                      </a:r>
                      <a:endParaRPr lang="en-US" sz="900" dirty="0">
                        <a:latin typeface="Open Sans" charset="0"/>
                        <a:ea typeface="Open Sans" charset="0"/>
                        <a:cs typeface="Open Sans" charset="0"/>
                      </a:endParaRPr>
                    </a:p>
                  </a:txBody>
                  <a:tcPr marL="115183" marR="115183" marT="6350" marB="6350" anchor="ctr">
                    <a:lnL w="12700" cap="flat" cmpd="sng" algn="ctr">
                      <a:solidFill>
                        <a:srgbClr val="FFF8F1"/>
                      </a:solidFill>
                      <a:prstDash val="solid"/>
                      <a:round/>
                      <a:headEnd type="none" w="med" len="med"/>
                      <a:tailEnd type="none" w="med" len="med"/>
                    </a:lnL>
                    <a:lnR w="12700" cap="flat" cmpd="sng" algn="ctr">
                      <a:solidFill>
                        <a:srgbClr val="FFF8F1"/>
                      </a:solidFill>
                      <a:prstDash val="solid"/>
                      <a:round/>
                      <a:headEnd type="none" w="med" len="med"/>
                      <a:tailEnd type="none" w="med" len="med"/>
                    </a:lnR>
                    <a:lnT w="12700" cap="flat" cmpd="sng" algn="ctr">
                      <a:solidFill>
                        <a:srgbClr val="FFF8F1"/>
                      </a:solidFill>
                      <a:prstDash val="solid"/>
                      <a:round/>
                      <a:headEnd type="none" w="med" len="med"/>
                      <a:tailEnd type="none" w="med" len="med"/>
                    </a:lnT>
                    <a:lnB w="12700" cap="flat" cmpd="sng" algn="ctr">
                      <a:solidFill>
                        <a:srgbClr val="E2C8B5"/>
                      </a:solidFill>
                      <a:prstDash val="solid"/>
                      <a:round/>
                      <a:headEnd type="none" w="med" len="med"/>
                      <a:tailEnd type="none" w="med" len="med"/>
                    </a:lnB>
                    <a:solidFill>
                      <a:srgbClr val="FFFFFF">
                        <a:alpha val="4000"/>
                      </a:srgbClr>
                    </a:solidFill>
                  </a:tcPr>
                </a:tc>
                <a:tc>
                  <a:txBody>
                    <a:bodyPr/>
                    <a:lstStyle/>
                    <a:p>
                      <a:pPr algn="l" indent="0" marL="0">
                        <a:buNone/>
                      </a:pPr>
                      <a:r>
                        <a:rPr lang="en-US" sz="900" spc="-18" kern="0" dirty="0">
                          <a:solidFill>
                            <a:srgbClr val="2B2E3C"/>
                          </a:solidFill>
                          <a:latin typeface="Open Sans" pitchFamily="34" charset="0"/>
                          <a:ea typeface="Open Sans" pitchFamily="34" charset="-122"/>
                          <a:cs typeface="Open Sans" pitchFamily="34" charset="-120"/>
                        </a:rPr>
                        <a:t>192.168.1.116</a:t>
                      </a:r>
                      <a:endParaRPr lang="en-US" sz="900" dirty="0">
                        <a:latin typeface="Open Sans" charset="0"/>
                        <a:ea typeface="Open Sans" charset="0"/>
                        <a:cs typeface="Open Sans" charset="0"/>
                      </a:endParaRPr>
                    </a:p>
                  </a:txBody>
                  <a:tcPr marL="115183" marR="115183" marT="6350" marB="6350" anchor="ctr">
                    <a:lnL w="12700" cap="flat" cmpd="sng" algn="ctr">
                      <a:solidFill>
                        <a:srgbClr val="FFF8F1"/>
                      </a:solidFill>
                      <a:prstDash val="solid"/>
                      <a:round/>
                      <a:headEnd type="none" w="med" len="med"/>
                      <a:tailEnd type="none" w="med" len="med"/>
                    </a:lnL>
                    <a:lnR w="12700" cap="flat" cmpd="sng" algn="ctr">
                      <a:solidFill>
                        <a:srgbClr val="E2C8B5"/>
                      </a:solidFill>
                      <a:prstDash val="solid"/>
                      <a:round/>
                      <a:headEnd type="none" w="med" len="med"/>
                      <a:tailEnd type="none" w="med" len="med"/>
                    </a:lnR>
                    <a:lnT w="12700" cap="flat" cmpd="sng" algn="ctr">
                      <a:solidFill>
                        <a:srgbClr val="FFF8F1"/>
                      </a:solidFill>
                      <a:prstDash val="solid"/>
                      <a:round/>
                      <a:headEnd type="none" w="med" len="med"/>
                      <a:tailEnd type="none" w="med" len="med"/>
                    </a:lnT>
                    <a:lnB w="12700" cap="flat" cmpd="sng" algn="ctr">
                      <a:solidFill>
                        <a:srgbClr val="E2C8B5"/>
                      </a:solidFill>
                      <a:prstDash val="solid"/>
                      <a:round/>
                      <a:headEnd type="none" w="med" len="med"/>
                      <a:tailEnd type="none" w="med" len="med"/>
                    </a:lnB>
                    <a:solidFill>
                      <a:srgbClr val="FFFFFF">
                        <a:alpha val="4000"/>
                      </a:srgbClr>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693043"/>
            <a:ext cx="6296860" cy="281484"/>
          </a:xfrm>
          <a:prstGeom prst="rect">
            <a:avLst/>
          </a:prstGeom>
          <a:noFill/>
          <a:ln/>
        </p:spPr>
        <p:txBody>
          <a:bodyPr wrap="none" lIns="0" tIns="0" rIns="0" bIns="0" rtlCol="0" anchor="t"/>
          <a:lstStyle/>
          <a:p>
            <a:pPr algn="l" indent="0" marL="0">
              <a:lnSpc>
                <a:spcPct val="104000"/>
              </a:lnSpc>
              <a:buNone/>
            </a:pPr>
            <a:r>
              <a:rPr lang="en-US" sz="1750" spc="-53" kern="0" dirty="0">
                <a:solidFill>
                  <a:srgbClr val="2C3F42"/>
                </a:solidFill>
                <a:latin typeface="Bitter Medium" pitchFamily="34" charset="0"/>
                <a:ea typeface="Bitter Medium" pitchFamily="34" charset="-122"/>
                <a:cs typeface="Bitter Medium" pitchFamily="34" charset="-120"/>
              </a:rPr>
              <a:t>Section 3</a:t>
            </a:r>
            <a:endParaRPr lang="en-US" sz="1750" dirty="0"/>
          </a:p>
        </p:txBody>
      </p:sp>
      <p:sp>
        <p:nvSpPr>
          <p:cNvPr id="4" name="Text 1"/>
          <p:cNvSpPr/>
          <p:nvPr/>
        </p:nvSpPr>
        <p:spPr>
          <a:xfrm>
            <a:off x="661475" y="1043186"/>
            <a:ext cx="6296860" cy="1126133"/>
          </a:xfrm>
          <a:prstGeom prst="rect">
            <a:avLst/>
          </a:prstGeom>
          <a:noFill/>
          <a:ln/>
        </p:spPr>
        <p:txBody>
          <a:bodyPr wrap="square" lIns="0" tIns="0" rIns="0" bIns="0" rtlCol="0" anchor="t">
            <a:normAutofit/>
          </a:bodyPr>
          <a:lstStyle/>
          <a:p>
            <a:pPr algn="l" indent="0" marL="0">
              <a:lnSpc>
                <a:spcPct val="104000"/>
              </a:lnSpc>
              <a:buNone/>
            </a:pPr>
            <a:r>
              <a:rPr lang="en-US" sz="3500" spc="-106" kern="0" dirty="0">
                <a:solidFill>
                  <a:srgbClr val="2C3F42"/>
                </a:solidFill>
                <a:latin typeface="Bitter Medium" pitchFamily="34" charset="0"/>
                <a:ea typeface="Bitter Medium" pitchFamily="34" charset="-122"/>
                <a:cs typeface="Bitter Medium" pitchFamily="34" charset="-120"/>
              </a:rPr>
              <a:t>Zone 1: Perimeter Security and Access Control</a:t>
            </a:r>
            <a:endParaRPr lang="en-US" sz="3500" dirty="0"/>
          </a:p>
        </p:txBody>
      </p:sp>
      <p:sp>
        <p:nvSpPr>
          <p:cNvPr id="5" name="Text 2"/>
          <p:cNvSpPr/>
          <p:nvPr/>
        </p:nvSpPr>
        <p:spPr>
          <a:xfrm>
            <a:off x="661475" y="2426891"/>
            <a:ext cx="6296860" cy="3737967"/>
          </a:xfrm>
          <a:prstGeom prst="rect">
            <a:avLst/>
          </a:prstGeom>
          <a:noFill/>
          <a:ln/>
        </p:spPr>
        <p:txBody>
          <a:bodyPr wrap="square" lIns="0" tIns="0" rIns="0" bIns="0" rtlCol="0" anchor="t">
            <a:normAutofit/>
          </a:bodyPr>
          <a:lstStyle/>
          <a:p>
            <a:pPr algn="l" marL="284480" indent="-284480">
              <a:lnSpc>
                <a:spcPct val="130000"/>
              </a:lnSpc>
              <a:buSzPct val="100000"/>
              <a:buChar char="•"/>
            </a:pPr>
            <a:r>
              <a:rPr lang="en-US" sz="1400" b="1" spc="-28" kern="0" dirty="0">
                <a:solidFill>
                  <a:srgbClr val="2B2E3C"/>
                </a:solidFill>
                <a:latin typeface="Open Sans Bold" pitchFamily="34" charset="0"/>
                <a:ea typeface="Open Sans Bold" pitchFamily="34" charset="-122"/>
                <a:cs typeface="Open Sans Bold" pitchFamily="34" charset="-120"/>
              </a:rPr>
              <a:t>Devices:</a:t>
            </a:r>
            <a:pPr algn="l" marL="284480" indent="-284480">
              <a:lnSpc>
                <a:spcPct val="130000"/>
              </a:lnSpc>
              <a:buSzPct val="100000"/>
              <a:buChar char="•"/>
            </a:pPr>
            <a:r>
              <a:rPr lang="en-US" sz="1400" spc="-28" kern="0" dirty="0">
                <a:solidFill>
                  <a:srgbClr val="2B2E3C"/>
                </a:solidFill>
                <a:latin typeface="Open Sans" pitchFamily="34" charset="0"/>
                <a:ea typeface="Open Sans" pitchFamily="34" charset="-122"/>
                <a:cs typeface="Open Sans" pitchFamily="34" charset="-120"/>
              </a:rPr>
              <a:t> 1 Switch connected to 4 PCs, with an integrated router.</a:t>
            </a:r>
            <a:endParaRPr lang="en-US" sz="1400" dirty="0"/>
          </a:p>
          <a:p>
            <a:pPr algn="l" marL="284480" indent="-284480">
              <a:lnSpc>
                <a:spcPct val="130000"/>
              </a:lnSpc>
              <a:buSzPct val="100000"/>
              <a:buChar char="•"/>
            </a:pPr>
            <a:r>
              <a:rPr lang="en-US" sz="1400" b="1" spc="-28" kern="0" dirty="0">
                <a:solidFill>
                  <a:srgbClr val="2B2E3C"/>
                </a:solidFill>
                <a:latin typeface="Open Sans Bold" pitchFamily="34" charset="0"/>
                <a:ea typeface="Open Sans Bold" pitchFamily="34" charset="-122"/>
                <a:cs typeface="Open Sans Bold" pitchFamily="34" charset="-120"/>
              </a:rPr>
              <a:t>Physical Security:</a:t>
            </a:r>
            <a:pPr algn="l" marL="284480" indent="-284480">
              <a:lnSpc>
                <a:spcPct val="130000"/>
              </a:lnSpc>
              <a:buSzPct val="100000"/>
              <a:buChar char="•"/>
            </a:pPr>
            <a:r>
              <a:rPr lang="en-US" sz="1400" spc="-28" kern="0" dirty="0">
                <a:solidFill>
                  <a:srgbClr val="2B2E3C"/>
                </a:solidFill>
                <a:latin typeface="Open Sans" pitchFamily="34" charset="0"/>
                <a:ea typeface="Open Sans" pitchFamily="34" charset="-122"/>
                <a:cs typeface="Open Sans" pitchFamily="34" charset="-120"/>
              </a:rPr>
              <a:t> Webcams, trip sensors, alarms, and motion sensors are deployed throughout the zone for comprehensive physical surveillance.</a:t>
            </a:r>
            <a:endParaRPr lang="en-US" sz="1400" dirty="0"/>
          </a:p>
          <a:p>
            <a:pPr algn="l" marL="284480" indent="-284480">
              <a:lnSpc>
                <a:spcPct val="130000"/>
              </a:lnSpc>
              <a:buSzPct val="100000"/>
              <a:buChar char="•"/>
            </a:pPr>
            <a:r>
              <a:rPr lang="en-US" sz="1400" b="1" spc="-28" kern="0" dirty="0">
                <a:solidFill>
                  <a:srgbClr val="2B2E3C"/>
                </a:solidFill>
                <a:latin typeface="Open Sans Bold" pitchFamily="34" charset="0"/>
                <a:ea typeface="Open Sans Bold" pitchFamily="34" charset="-122"/>
                <a:cs typeface="Open Sans Bold" pitchFamily="34" charset="-120"/>
              </a:rPr>
              <a:t>Secure Management:</a:t>
            </a:r>
            <a:pPr algn="l" marL="284480" indent="-284480">
              <a:lnSpc>
                <a:spcPct val="130000"/>
              </a:lnSpc>
              <a:buSzPct val="100000"/>
              <a:buChar char="•"/>
            </a:pPr>
            <a:r>
              <a:rPr lang="en-US" sz="1400" spc="-28" kern="0" dirty="0">
                <a:solidFill>
                  <a:srgbClr val="2B2E3C"/>
                </a:solidFill>
                <a:latin typeface="Open Sans" pitchFamily="34" charset="0"/>
                <a:ea typeface="Open Sans" pitchFamily="34" charset="-122"/>
                <a:cs typeface="Open Sans" pitchFamily="34" charset="-120"/>
              </a:rPr>
              <a:t> SSH is enabled on the router to ensure encrypted remote access and management.</a:t>
            </a:r>
            <a:endParaRPr lang="en-US" sz="1400" dirty="0"/>
          </a:p>
          <a:p>
            <a:pPr algn="l" marL="284480" indent="-284480">
              <a:lnSpc>
                <a:spcPct val="130000"/>
              </a:lnSpc>
              <a:buSzPct val="100000"/>
              <a:buChar char="•"/>
            </a:pPr>
            <a:r>
              <a:rPr lang="en-US" sz="1400" b="1" spc="-28" kern="0" dirty="0">
                <a:solidFill>
                  <a:srgbClr val="2B2E3C"/>
                </a:solidFill>
                <a:latin typeface="Open Sans Bold" pitchFamily="34" charset="0"/>
                <a:ea typeface="Open Sans Bold" pitchFamily="34" charset="-122"/>
                <a:cs typeface="Open Sans Bold" pitchFamily="34" charset="-120"/>
              </a:rPr>
              <a:t>Port Security:</a:t>
            </a:r>
            <a:pPr algn="l" marL="284480" indent="-284480">
              <a:lnSpc>
                <a:spcPct val="130000"/>
              </a:lnSpc>
              <a:buSzPct val="100000"/>
              <a:buChar char="•"/>
            </a:pPr>
            <a:r>
              <a:rPr lang="en-US" sz="1400" spc="-28" kern="0" dirty="0">
                <a:solidFill>
                  <a:srgbClr val="2B2E3C"/>
                </a:solidFill>
                <a:latin typeface="Open Sans" pitchFamily="34" charset="0"/>
                <a:ea typeface="Open Sans" pitchFamily="34" charset="-122"/>
                <a:cs typeface="Open Sans" pitchFamily="34" charset="-120"/>
              </a:rPr>
              <a:t> Configured with MAC address binding for each active port. All unused ports are administratively disabled to prevent unauthorized access.</a:t>
            </a:r>
            <a:endParaRPr lang="en-US" sz="1400" dirty="0"/>
          </a:p>
          <a:p>
            <a:pPr algn="l" marL="284480" indent="-284480">
              <a:lnSpc>
                <a:spcPct val="130000"/>
              </a:lnSpc>
              <a:buSzPct val="100000"/>
              <a:buChar char="•"/>
            </a:pPr>
            <a:r>
              <a:rPr lang="en-US" sz="1400" b="1" spc="-28" kern="0" dirty="0">
                <a:solidFill>
                  <a:srgbClr val="2B2E3C"/>
                </a:solidFill>
                <a:latin typeface="Open Sans Bold" pitchFamily="34" charset="0"/>
                <a:ea typeface="Open Sans Bold" pitchFamily="34" charset="-122"/>
                <a:cs typeface="Open Sans Bold" pitchFamily="34" charset="-120"/>
              </a:rPr>
              <a:t>Role-Based CLI:</a:t>
            </a:r>
            <a:pPr algn="l" marL="284480" indent="-284480">
              <a:lnSpc>
                <a:spcPct val="130000"/>
              </a:lnSpc>
              <a:buSzPct val="100000"/>
              <a:buChar char="•"/>
            </a:pPr>
            <a:r>
              <a:rPr lang="en-US" sz="1400" spc="-28" kern="0" dirty="0">
                <a:solidFill>
                  <a:srgbClr val="2B2E3C"/>
                </a:solidFill>
                <a:latin typeface="Open Sans" pitchFamily="34" charset="0"/>
                <a:ea typeface="Open Sans" pitchFamily="34" charset="-122"/>
                <a:cs typeface="Open Sans" pitchFamily="34" charset="-120"/>
              </a:rPr>
              <a:t> Two distinct views are configured on the router:</a:t>
            </a:r>
            <a:endParaRPr lang="en-US" sz="1400" dirty="0"/>
          </a:p>
          <a:p>
            <a:pPr algn="l" lvl="1" marL="568960" indent="-284480">
              <a:lnSpc>
                <a:spcPct val="130000"/>
              </a:lnSpc>
              <a:buSzPct val="100000"/>
              <a:buChar char="◦"/>
            </a:pPr>
            <a:r>
              <a:rPr lang="en-US" sz="1400" spc="-28" kern="0" dirty="0">
                <a:solidFill>
                  <a:srgbClr val="2B2E3C"/>
                </a:solidFill>
                <a:latin typeface="Open Sans" pitchFamily="34" charset="0"/>
                <a:ea typeface="Open Sans" pitchFamily="34" charset="-122"/>
                <a:cs typeface="Open Sans" pitchFamily="34" charset="-120"/>
              </a:rPr>
              <a:t>IT View: Offers limited access tailored for network technicians for monitoring and basic troubleshooting.</a:t>
            </a:r>
            <a:endParaRPr lang="en-US" sz="1400" dirty="0"/>
          </a:p>
          <a:p>
            <a:pPr algn="l" lvl="1" marL="568960" indent="-284480">
              <a:lnSpc>
                <a:spcPct val="130000"/>
              </a:lnSpc>
              <a:buSzPct val="100000"/>
              <a:buChar char="◦"/>
            </a:pPr>
            <a:r>
              <a:rPr lang="en-US" sz="1400" spc="-28" kern="0" dirty="0">
                <a:solidFill>
                  <a:srgbClr val="2B2E3C"/>
                </a:solidFill>
                <a:latin typeface="Open Sans" pitchFamily="34" charset="0"/>
                <a:ea typeface="Open Sans" pitchFamily="34" charset="-122"/>
                <a:cs typeface="Open Sans" pitchFamily="34" charset="-120"/>
              </a:rPr>
              <a:t>NTI View: Provides full administrative access for network engineers.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564455"/>
            <a:ext cx="6296860" cy="295275"/>
          </a:xfrm>
          <a:prstGeom prst="rect">
            <a:avLst/>
          </a:prstGeom>
          <a:noFill/>
          <a:ln/>
        </p:spPr>
        <p:txBody>
          <a:bodyPr wrap="none" lIns="0" tIns="0" rIns="0" bIns="0" rtlCol="0" anchor="t"/>
          <a:lstStyle/>
          <a:p>
            <a:pPr algn="l" indent="0" marL="0">
              <a:lnSpc>
                <a:spcPct val="104000"/>
              </a:lnSpc>
              <a:buNone/>
            </a:pPr>
            <a:r>
              <a:rPr lang="en-US" sz="1850" spc="-56" kern="0" dirty="0">
                <a:solidFill>
                  <a:srgbClr val="2C3F42"/>
                </a:solidFill>
                <a:latin typeface="Bitter Medium" pitchFamily="34" charset="0"/>
                <a:ea typeface="Bitter Medium" pitchFamily="34" charset="-122"/>
                <a:cs typeface="Bitter Medium" pitchFamily="34" charset="-120"/>
              </a:rPr>
              <a:t>Section 4</a:t>
            </a:r>
            <a:endParaRPr lang="en-US" sz="1850" dirty="0"/>
          </a:p>
        </p:txBody>
      </p:sp>
      <p:sp>
        <p:nvSpPr>
          <p:cNvPr id="4" name="Text 1"/>
          <p:cNvSpPr/>
          <p:nvPr/>
        </p:nvSpPr>
        <p:spPr>
          <a:xfrm>
            <a:off x="661475" y="935335"/>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spc="-112" kern="0" dirty="0">
                <a:solidFill>
                  <a:srgbClr val="2C3F42"/>
                </a:solidFill>
                <a:latin typeface="Bitter Medium" pitchFamily="34" charset="0"/>
                <a:ea typeface="Bitter Medium" pitchFamily="34" charset="-122"/>
                <a:cs typeface="Bitter Medium" pitchFamily="34" charset="-120"/>
              </a:rPr>
              <a:t>Zone 2: Controlled Access and VTY Line Hardening</a:t>
            </a:r>
            <a:endParaRPr lang="en-US" sz="3700" dirty="0"/>
          </a:p>
        </p:txBody>
      </p:sp>
      <p:sp>
        <p:nvSpPr>
          <p:cNvPr id="5" name="Text 2"/>
          <p:cNvSpPr/>
          <p:nvPr/>
        </p:nvSpPr>
        <p:spPr>
          <a:xfrm>
            <a:off x="661475" y="2400102"/>
            <a:ext cx="6296860" cy="389334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b="1" spc="-30" kern="0" dirty="0">
                <a:solidFill>
                  <a:srgbClr val="2B2E3C"/>
                </a:solidFill>
                <a:latin typeface="Open Sans Bold" pitchFamily="34" charset="0"/>
                <a:ea typeface="Open Sans Bold" pitchFamily="34" charset="-122"/>
                <a:cs typeface="Open Sans Bold" pitchFamily="34" charset="-120"/>
              </a:rPr>
              <a:t>Devices:</a:t>
            </a:r>
            <a:pPr algn="l" marL="294640" indent="-294640">
              <a:lnSpc>
                <a:spcPct val="133000"/>
              </a:lnSpc>
              <a:buSzPct val="100000"/>
              <a:buChar char="•"/>
            </a:pPr>
            <a:r>
              <a:rPr lang="en-US" sz="1450" spc="-30" kern="0" dirty="0">
                <a:solidFill>
                  <a:srgbClr val="2B2E3C"/>
                </a:solidFill>
                <a:latin typeface="Open Sans" pitchFamily="34" charset="0"/>
                <a:ea typeface="Open Sans" pitchFamily="34" charset="-122"/>
                <a:cs typeface="Open Sans" pitchFamily="34" charset="-120"/>
              </a:rPr>
              <a:t> 1 Switch connected to 6 devices, including a DHCP Server.</a:t>
            </a:r>
            <a:endParaRPr lang="en-US" sz="1450" dirty="0"/>
          </a:p>
          <a:p>
            <a:pPr algn="l" marL="294640" indent="-294640">
              <a:lnSpc>
                <a:spcPct val="133000"/>
              </a:lnSpc>
              <a:buSzPct val="100000"/>
              <a:buChar char="•"/>
            </a:pPr>
            <a:r>
              <a:rPr lang="en-US" sz="1450" b="1" spc="-30" kern="0" dirty="0">
                <a:solidFill>
                  <a:srgbClr val="2B2E3C"/>
                </a:solidFill>
                <a:latin typeface="Open Sans Bold" pitchFamily="34" charset="0"/>
                <a:ea typeface="Open Sans Bold" pitchFamily="34" charset="-122"/>
                <a:cs typeface="Open Sans Bold" pitchFamily="34" charset="-120"/>
              </a:rPr>
              <a:t>Access Control:</a:t>
            </a:r>
            <a:pPr algn="l" marL="294640" indent="-294640">
              <a:lnSpc>
                <a:spcPct val="133000"/>
              </a:lnSpc>
              <a:buSzPct val="100000"/>
              <a:buChar char="•"/>
            </a:pPr>
            <a:r>
              <a:rPr lang="en-US" sz="1450" spc="-30" kern="0" dirty="0">
                <a:solidFill>
                  <a:srgbClr val="2B2E3C"/>
                </a:solidFill>
                <a:latin typeface="Open Sans" pitchFamily="34" charset="0"/>
                <a:ea typeface="Open Sans" pitchFamily="34" charset="-122"/>
                <a:cs typeface="Open Sans" pitchFamily="34" charset="-120"/>
              </a:rPr>
              <a:t> Robust Access Control Lists (ACLs) are meticulously configured to regulate network traffic flow and enforce security policies.</a:t>
            </a:r>
            <a:endParaRPr lang="en-US" sz="1450" dirty="0"/>
          </a:p>
          <a:p>
            <a:pPr algn="l" marL="294640" indent="-294640">
              <a:lnSpc>
                <a:spcPct val="133000"/>
              </a:lnSpc>
              <a:buSzPct val="100000"/>
              <a:buChar char="•"/>
            </a:pPr>
            <a:r>
              <a:rPr lang="en-US" sz="1450" b="1" spc="-30" kern="0" dirty="0">
                <a:solidFill>
                  <a:srgbClr val="2B2E3C"/>
                </a:solidFill>
                <a:latin typeface="Open Sans Bold" pitchFamily="34" charset="0"/>
                <a:ea typeface="Open Sans Bold" pitchFamily="34" charset="-122"/>
                <a:cs typeface="Open Sans Bold" pitchFamily="34" charset="-120"/>
              </a:rPr>
              <a:t>VTY Line Security:</a:t>
            </a:r>
            <a:pPr algn="l" marL="294640" indent="-294640">
              <a:lnSpc>
                <a:spcPct val="133000"/>
              </a:lnSpc>
              <a:buSzPct val="100000"/>
              <a:buChar char="•"/>
            </a:pPr>
            <a:r>
              <a:rPr lang="en-US" sz="1450" spc="-30" kern="0" dirty="0">
                <a:solidFill>
                  <a:srgbClr val="2B2E3C"/>
                </a:solidFill>
                <a:latin typeface="Open Sans" pitchFamily="34" charset="0"/>
                <a:ea typeface="Open Sans" pitchFamily="34" charset="-122"/>
                <a:cs typeface="Open Sans" pitchFamily="34" charset="-120"/>
              </a:rPr>
              <a:t> VTY lines are secured using SSH, allowing access only from authorized lines (C6, C7, C17). All other VTY lines are denied to mitigate unauthorized remote access attempts.</a:t>
            </a:r>
            <a:endParaRPr lang="en-US" sz="1450" dirty="0"/>
          </a:p>
          <a:p>
            <a:pPr algn="l" marL="294640" indent="-294640">
              <a:lnSpc>
                <a:spcPct val="133000"/>
              </a:lnSpc>
              <a:buSzPct val="100000"/>
              <a:buChar char="•"/>
            </a:pPr>
            <a:r>
              <a:rPr lang="en-US" sz="1450" b="1" spc="-30" kern="0" dirty="0">
                <a:solidFill>
                  <a:srgbClr val="2B2E3C"/>
                </a:solidFill>
                <a:latin typeface="Open Sans Bold" pitchFamily="34" charset="0"/>
                <a:ea typeface="Open Sans Bold" pitchFamily="34" charset="-122"/>
                <a:cs typeface="Open Sans Bold" pitchFamily="34" charset="-120"/>
              </a:rPr>
              <a:t>Physical Security:</a:t>
            </a:r>
            <a:pPr algn="l" marL="294640" indent="-294640">
              <a:lnSpc>
                <a:spcPct val="133000"/>
              </a:lnSpc>
              <a:buSzPct val="100000"/>
              <a:buChar char="•"/>
            </a:pPr>
            <a:r>
              <a:rPr lang="en-US" sz="1450" spc="-30" kern="0" dirty="0">
                <a:solidFill>
                  <a:srgbClr val="2B2E3C"/>
                </a:solidFill>
                <a:latin typeface="Open Sans" pitchFamily="34" charset="0"/>
                <a:ea typeface="Open Sans" pitchFamily="34" charset="-122"/>
                <a:cs typeface="Open Sans" pitchFamily="34" charset="-120"/>
              </a:rPr>
              <a:t> Webcams, trip sensors, alarms, and motion sensors are installed to provide continuous physical threat detection.</a:t>
            </a:r>
            <a:endParaRPr lang="en-US" sz="1450" dirty="0"/>
          </a:p>
          <a:p>
            <a:pPr algn="l" marL="294640" indent="-294640">
              <a:lnSpc>
                <a:spcPct val="133000"/>
              </a:lnSpc>
              <a:buSzPct val="100000"/>
              <a:buChar char="•"/>
            </a:pPr>
            <a:r>
              <a:rPr lang="en-US" sz="1450" b="1" spc="-30" kern="0" dirty="0">
                <a:solidFill>
                  <a:srgbClr val="2B2E3C"/>
                </a:solidFill>
                <a:latin typeface="Open Sans Bold" pitchFamily="34" charset="0"/>
                <a:ea typeface="Open Sans Bold" pitchFamily="34" charset="-122"/>
                <a:cs typeface="Open Sans Bold" pitchFamily="34" charset="-120"/>
              </a:rPr>
              <a:t>Port Security:</a:t>
            </a:r>
            <a:pPr algn="l" marL="294640" indent="-294640">
              <a:lnSpc>
                <a:spcPct val="133000"/>
              </a:lnSpc>
              <a:buSzPct val="100000"/>
              <a:buChar char="•"/>
            </a:pPr>
            <a:r>
              <a:rPr lang="en-US" sz="1450" spc="-30" kern="0" dirty="0">
                <a:solidFill>
                  <a:srgbClr val="2B2E3C"/>
                </a:solidFill>
                <a:latin typeface="Open Sans" pitchFamily="34" charset="0"/>
                <a:ea typeface="Open Sans" pitchFamily="34" charset="-122"/>
                <a:cs typeface="Open Sans" pitchFamily="34" charset="-120"/>
              </a:rPr>
              <a:t> Configured with MAC address binding for active ports. All unused ports are administratively disabled to minimize the attack surface.</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552351"/>
            <a:ext cx="6296860" cy="281484"/>
          </a:xfrm>
          <a:prstGeom prst="rect">
            <a:avLst/>
          </a:prstGeom>
          <a:noFill/>
          <a:ln/>
        </p:spPr>
        <p:txBody>
          <a:bodyPr wrap="none" lIns="0" tIns="0" rIns="0" bIns="0" rtlCol="0" anchor="t"/>
          <a:lstStyle/>
          <a:p>
            <a:pPr algn="l" indent="0" marL="0">
              <a:lnSpc>
                <a:spcPct val="104000"/>
              </a:lnSpc>
              <a:buNone/>
            </a:pPr>
            <a:r>
              <a:rPr lang="en-US" sz="1750" spc="-53" kern="0" dirty="0">
                <a:solidFill>
                  <a:srgbClr val="2C3F42"/>
                </a:solidFill>
                <a:latin typeface="Bitter Medium" pitchFamily="34" charset="0"/>
                <a:ea typeface="Bitter Medium" pitchFamily="34" charset="-122"/>
                <a:cs typeface="Bitter Medium" pitchFamily="34" charset="-120"/>
              </a:rPr>
              <a:t>Section 5</a:t>
            </a:r>
            <a:endParaRPr lang="en-US" sz="1750" dirty="0"/>
          </a:p>
        </p:txBody>
      </p:sp>
      <p:sp>
        <p:nvSpPr>
          <p:cNvPr id="4" name="Text 1"/>
          <p:cNvSpPr/>
          <p:nvPr/>
        </p:nvSpPr>
        <p:spPr>
          <a:xfrm>
            <a:off x="661475" y="902494"/>
            <a:ext cx="6296860" cy="1126133"/>
          </a:xfrm>
          <a:prstGeom prst="rect">
            <a:avLst/>
          </a:prstGeom>
          <a:noFill/>
          <a:ln/>
        </p:spPr>
        <p:txBody>
          <a:bodyPr wrap="square" lIns="0" tIns="0" rIns="0" bIns="0" rtlCol="0" anchor="t">
            <a:normAutofit/>
          </a:bodyPr>
          <a:lstStyle/>
          <a:p>
            <a:pPr algn="l" indent="0" marL="0">
              <a:lnSpc>
                <a:spcPct val="104000"/>
              </a:lnSpc>
              <a:buNone/>
            </a:pPr>
            <a:r>
              <a:rPr lang="en-US" sz="3500" spc="-106" kern="0" dirty="0">
                <a:solidFill>
                  <a:srgbClr val="2C3F42"/>
                </a:solidFill>
                <a:latin typeface="Bitter Medium" pitchFamily="34" charset="0"/>
                <a:ea typeface="Bitter Medium" pitchFamily="34" charset="-122"/>
                <a:cs typeface="Bitter Medium" pitchFamily="34" charset="-120"/>
              </a:rPr>
              <a:t>Zone 3: DMZ and Zone-Based Firewall Implementation</a:t>
            </a:r>
            <a:endParaRPr lang="en-US" sz="3500" dirty="0"/>
          </a:p>
        </p:txBody>
      </p:sp>
      <p:sp>
        <p:nvSpPr>
          <p:cNvPr id="5" name="Text 2"/>
          <p:cNvSpPr/>
          <p:nvPr/>
        </p:nvSpPr>
        <p:spPr>
          <a:xfrm>
            <a:off x="661475" y="2286198"/>
            <a:ext cx="6296860" cy="4019451"/>
          </a:xfrm>
          <a:prstGeom prst="rect">
            <a:avLst/>
          </a:prstGeom>
          <a:noFill/>
          <a:ln/>
        </p:spPr>
        <p:txBody>
          <a:bodyPr wrap="square" lIns="0" tIns="0" rIns="0" bIns="0" rtlCol="0" anchor="t">
            <a:normAutofit/>
          </a:bodyPr>
          <a:lstStyle/>
          <a:p>
            <a:pPr algn="l" marL="284480" indent="-284480">
              <a:lnSpc>
                <a:spcPct val="130000"/>
              </a:lnSpc>
              <a:buSzPct val="100000"/>
              <a:buChar char="•"/>
            </a:pPr>
            <a:r>
              <a:rPr lang="en-US" sz="1400" b="1" spc="-28" kern="0" dirty="0">
                <a:solidFill>
                  <a:srgbClr val="2B2E3C"/>
                </a:solidFill>
                <a:latin typeface="Open Sans Bold" pitchFamily="34" charset="0"/>
                <a:ea typeface="Open Sans Bold" pitchFamily="34" charset="-122"/>
                <a:cs typeface="Open Sans Bold" pitchFamily="34" charset="-120"/>
              </a:rPr>
              <a:t>Devices:</a:t>
            </a:r>
            <a:endParaRPr lang="en-US" sz="1400" dirty="0"/>
          </a:p>
          <a:p>
            <a:pPr algn="l" lvl="1" marL="568960" indent="-284480">
              <a:lnSpc>
                <a:spcPct val="130000"/>
              </a:lnSpc>
              <a:buSzPct val="100000"/>
              <a:buChar char="◦"/>
            </a:pPr>
            <a:r>
              <a:rPr lang="en-US" sz="1400" b="1" spc="-28" kern="0" dirty="0">
                <a:solidFill>
                  <a:srgbClr val="2B2E3C"/>
                </a:solidFill>
                <a:latin typeface="Open Sans Bold" pitchFamily="34" charset="0"/>
                <a:ea typeface="Open Sans Bold" pitchFamily="34" charset="-122"/>
                <a:cs typeface="Open Sans Bold" pitchFamily="34" charset="-120"/>
              </a:rPr>
              <a:t>Inside Area:</a:t>
            </a:r>
            <a:pPr algn="l" lvl="1" marL="568960" indent="-284480">
              <a:lnSpc>
                <a:spcPct val="130000"/>
              </a:lnSpc>
              <a:buSzPct val="100000"/>
              <a:buChar char="◦"/>
            </a:pPr>
            <a:r>
              <a:rPr lang="en-US" sz="1400" spc="-28" kern="0" dirty="0">
                <a:solidFill>
                  <a:srgbClr val="2B2E3C"/>
                </a:solidFill>
                <a:latin typeface="Open Sans" pitchFamily="34" charset="0"/>
                <a:ea typeface="Open Sans" pitchFamily="34" charset="-122"/>
                <a:cs typeface="Open Sans" pitchFamily="34" charset="-120"/>
              </a:rPr>
              <a:t> 1 Switch connected to 2 PCs.</a:t>
            </a:r>
            <a:endParaRPr lang="en-US" sz="1400" dirty="0"/>
          </a:p>
          <a:p>
            <a:pPr algn="l" lvl="1" marL="568960" indent="-284480">
              <a:lnSpc>
                <a:spcPct val="130000"/>
              </a:lnSpc>
              <a:buSzPct val="100000"/>
              <a:buChar char="◦"/>
            </a:pPr>
            <a:r>
              <a:rPr lang="en-US" sz="1400" b="1" spc="-28" kern="0" dirty="0">
                <a:solidFill>
                  <a:srgbClr val="2B2E3C"/>
                </a:solidFill>
                <a:latin typeface="Open Sans Bold" pitchFamily="34" charset="0"/>
                <a:ea typeface="Open Sans Bold" pitchFamily="34" charset="-122"/>
                <a:cs typeface="Open Sans Bold" pitchFamily="34" charset="-120"/>
              </a:rPr>
              <a:t>DMZ Area:</a:t>
            </a:r>
            <a:pPr algn="l" lvl="1" marL="568960" indent="-284480">
              <a:lnSpc>
                <a:spcPct val="130000"/>
              </a:lnSpc>
              <a:buSzPct val="100000"/>
              <a:buChar char="◦"/>
            </a:pPr>
            <a:r>
              <a:rPr lang="en-US" sz="1400" spc="-28" kern="0" dirty="0">
                <a:solidFill>
                  <a:srgbClr val="2B2E3C"/>
                </a:solidFill>
                <a:latin typeface="Open Sans" pitchFamily="34" charset="0"/>
                <a:ea typeface="Open Sans" pitchFamily="34" charset="-122"/>
                <a:cs typeface="Open Sans" pitchFamily="34" charset="-120"/>
              </a:rPr>
              <a:t> 1 Switch connected to 1 PC and 1 Web Server. This separation protects internal resources from direct external access.</a:t>
            </a:r>
            <a:endParaRPr lang="en-US" sz="1400" dirty="0"/>
          </a:p>
          <a:p>
            <a:pPr algn="l" marL="284480" indent="-284480">
              <a:lnSpc>
                <a:spcPct val="130000"/>
              </a:lnSpc>
              <a:buSzPct val="100000"/>
              <a:buChar char="•"/>
            </a:pPr>
            <a:r>
              <a:rPr lang="en-US" sz="1400" b="1" spc="-28" kern="0" dirty="0">
                <a:solidFill>
                  <a:srgbClr val="2B2E3C"/>
                </a:solidFill>
                <a:latin typeface="Open Sans Bold" pitchFamily="34" charset="0"/>
                <a:ea typeface="Open Sans Bold" pitchFamily="34" charset="-122"/>
                <a:cs typeface="Open Sans Bold" pitchFamily="34" charset="-120"/>
              </a:rPr>
              <a:t>Physical Security:</a:t>
            </a:r>
            <a:pPr algn="l" marL="284480" indent="-284480">
              <a:lnSpc>
                <a:spcPct val="130000"/>
              </a:lnSpc>
              <a:buSzPct val="100000"/>
              <a:buChar char="•"/>
            </a:pPr>
            <a:r>
              <a:rPr lang="en-US" sz="1400" spc="-28" kern="0" dirty="0">
                <a:solidFill>
                  <a:srgbClr val="2B2E3C"/>
                </a:solidFill>
                <a:latin typeface="Open Sans" pitchFamily="34" charset="0"/>
                <a:ea typeface="Open Sans" pitchFamily="34" charset="-122"/>
                <a:cs typeface="Open Sans" pitchFamily="34" charset="-120"/>
              </a:rPr>
              <a:t> Webcams, trip sensors, alarms, and motion sensors provide continuous monitoring and intrusion detection.</a:t>
            </a:r>
            <a:endParaRPr lang="en-US" sz="1400" dirty="0"/>
          </a:p>
          <a:p>
            <a:pPr algn="l" marL="284480" indent="-284480">
              <a:lnSpc>
                <a:spcPct val="130000"/>
              </a:lnSpc>
              <a:buSzPct val="100000"/>
              <a:buChar char="•"/>
            </a:pPr>
            <a:r>
              <a:rPr lang="en-US" sz="1400" b="1" spc="-28" kern="0" dirty="0">
                <a:solidFill>
                  <a:srgbClr val="2B2E3C"/>
                </a:solidFill>
                <a:latin typeface="Open Sans Bold" pitchFamily="34" charset="0"/>
                <a:ea typeface="Open Sans Bold" pitchFamily="34" charset="-122"/>
                <a:cs typeface="Open Sans Bold" pitchFamily="34" charset="-120"/>
              </a:rPr>
              <a:t>Zone-Based Firewall (ZBF):</a:t>
            </a:r>
            <a:pPr algn="l" marL="284480" indent="-284480">
              <a:lnSpc>
                <a:spcPct val="130000"/>
              </a:lnSpc>
              <a:buSzPct val="100000"/>
              <a:buChar char="•"/>
            </a:pPr>
            <a:r>
              <a:rPr lang="en-US" sz="1400" spc="-28" kern="0" dirty="0">
                <a:solidFill>
                  <a:srgbClr val="2B2E3C"/>
                </a:solidFill>
                <a:latin typeface="Open Sans" pitchFamily="34" charset="0"/>
                <a:ea typeface="Open Sans" pitchFamily="34" charset="-122"/>
                <a:cs typeface="Open Sans" pitchFamily="34" charset="-120"/>
              </a:rPr>
              <a:t> Configured to inspect and filter traffic based on zones, specifically matching Host Intrusion Prevention System (HIPS) and ICMP traffic to prevent reconnaissance and attacks.</a:t>
            </a:r>
            <a:endParaRPr lang="en-US" sz="1400" dirty="0"/>
          </a:p>
          <a:p>
            <a:pPr algn="l" marL="284480" indent="-284480">
              <a:lnSpc>
                <a:spcPct val="130000"/>
              </a:lnSpc>
              <a:buSzPct val="100000"/>
              <a:buChar char="•"/>
            </a:pPr>
            <a:r>
              <a:rPr lang="en-US" sz="1400" b="1" spc="-28" kern="0" dirty="0">
                <a:solidFill>
                  <a:srgbClr val="2B2E3C"/>
                </a:solidFill>
                <a:latin typeface="Open Sans Bold" pitchFamily="34" charset="0"/>
                <a:ea typeface="Open Sans Bold" pitchFamily="34" charset="-122"/>
                <a:cs typeface="Open Sans Bold" pitchFamily="34" charset="-120"/>
              </a:rPr>
              <a:t>Secure Management:</a:t>
            </a:r>
            <a:pPr algn="l" marL="284480" indent="-284480">
              <a:lnSpc>
                <a:spcPct val="130000"/>
              </a:lnSpc>
              <a:buSzPct val="100000"/>
              <a:buChar char="•"/>
            </a:pPr>
            <a:r>
              <a:rPr lang="en-US" sz="1400" spc="-28" kern="0" dirty="0">
                <a:solidFill>
                  <a:srgbClr val="2B2E3C"/>
                </a:solidFill>
                <a:latin typeface="Open Sans" pitchFamily="34" charset="0"/>
                <a:ea typeface="Open Sans" pitchFamily="34" charset="-122"/>
                <a:cs typeface="Open Sans" pitchFamily="34" charset="-120"/>
              </a:rPr>
              <a:t> SSH is enabled on the router for secure remote administration.</a:t>
            </a:r>
            <a:endParaRPr lang="en-US" sz="1400" dirty="0"/>
          </a:p>
          <a:p>
            <a:pPr algn="l" marL="284480" indent="-284480">
              <a:lnSpc>
                <a:spcPct val="130000"/>
              </a:lnSpc>
              <a:buSzPct val="100000"/>
              <a:buChar char="•"/>
            </a:pPr>
            <a:r>
              <a:rPr lang="en-US" sz="1400" b="1" spc="-28" kern="0" dirty="0">
                <a:solidFill>
                  <a:srgbClr val="2B2E3C"/>
                </a:solidFill>
                <a:latin typeface="Open Sans Bold" pitchFamily="34" charset="0"/>
                <a:ea typeface="Open Sans Bold" pitchFamily="34" charset="-122"/>
                <a:cs typeface="Open Sans Bold" pitchFamily="34" charset="-120"/>
              </a:rPr>
              <a:t>Port Security:</a:t>
            </a:r>
            <a:pPr algn="l" marL="284480" indent="-284480">
              <a:lnSpc>
                <a:spcPct val="130000"/>
              </a:lnSpc>
              <a:buSzPct val="100000"/>
              <a:buChar char="•"/>
            </a:pPr>
            <a:r>
              <a:rPr lang="en-US" sz="1400" spc="-28" kern="0" dirty="0">
                <a:solidFill>
                  <a:srgbClr val="2B2E3C"/>
                </a:solidFill>
                <a:latin typeface="Open Sans" pitchFamily="34" charset="0"/>
                <a:ea typeface="Open Sans" pitchFamily="34" charset="-122"/>
                <a:cs typeface="Open Sans" pitchFamily="34" charset="-120"/>
              </a:rPr>
              <a:t> Enabled on switches, with all unused ports administratively disabled to prevent unauthorized physical connections.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663079"/>
            <a:ext cx="6296860" cy="281484"/>
          </a:xfrm>
          <a:prstGeom prst="rect">
            <a:avLst/>
          </a:prstGeom>
          <a:noFill/>
          <a:ln/>
        </p:spPr>
        <p:txBody>
          <a:bodyPr wrap="none" lIns="0" tIns="0" rIns="0" bIns="0" rtlCol="0" anchor="t"/>
          <a:lstStyle/>
          <a:p>
            <a:pPr algn="l" indent="0" marL="0">
              <a:lnSpc>
                <a:spcPct val="104000"/>
              </a:lnSpc>
              <a:buNone/>
            </a:pPr>
            <a:r>
              <a:rPr lang="en-US" sz="1750" spc="-53" kern="0" dirty="0">
                <a:solidFill>
                  <a:srgbClr val="2C3F42"/>
                </a:solidFill>
                <a:latin typeface="Bitter Medium" pitchFamily="34" charset="0"/>
                <a:ea typeface="Bitter Medium" pitchFamily="34" charset="-122"/>
                <a:cs typeface="Bitter Medium" pitchFamily="34" charset="-120"/>
              </a:rPr>
              <a:t>Section 6</a:t>
            </a:r>
            <a:endParaRPr lang="en-US" sz="1750" dirty="0"/>
          </a:p>
        </p:txBody>
      </p:sp>
      <p:sp>
        <p:nvSpPr>
          <p:cNvPr id="4" name="Text 1"/>
          <p:cNvSpPr/>
          <p:nvPr/>
        </p:nvSpPr>
        <p:spPr>
          <a:xfrm>
            <a:off x="5233360" y="1013222"/>
            <a:ext cx="6296860" cy="1126133"/>
          </a:xfrm>
          <a:prstGeom prst="rect">
            <a:avLst/>
          </a:prstGeom>
          <a:noFill/>
          <a:ln/>
        </p:spPr>
        <p:txBody>
          <a:bodyPr wrap="square" lIns="0" tIns="0" rIns="0" bIns="0" rtlCol="0" anchor="t">
            <a:normAutofit/>
          </a:bodyPr>
          <a:lstStyle/>
          <a:p>
            <a:pPr algn="l" indent="0" marL="0">
              <a:lnSpc>
                <a:spcPct val="104000"/>
              </a:lnSpc>
              <a:buNone/>
            </a:pPr>
            <a:r>
              <a:rPr lang="en-US" sz="3500" spc="-106" kern="0" dirty="0">
                <a:solidFill>
                  <a:srgbClr val="2C3F42"/>
                </a:solidFill>
                <a:latin typeface="Bitter Medium" pitchFamily="34" charset="0"/>
                <a:ea typeface="Bitter Medium" pitchFamily="34" charset="-122"/>
                <a:cs typeface="Bitter Medium" pitchFamily="34" charset="-120"/>
              </a:rPr>
              <a:t>Zone 4: Enhanced Layer 2 Security</a:t>
            </a:r>
            <a:endParaRPr lang="en-US" sz="3500" dirty="0"/>
          </a:p>
        </p:txBody>
      </p:sp>
      <p:sp>
        <p:nvSpPr>
          <p:cNvPr id="5" name="Text 2"/>
          <p:cNvSpPr/>
          <p:nvPr/>
        </p:nvSpPr>
        <p:spPr>
          <a:xfrm>
            <a:off x="5233360" y="2396927"/>
            <a:ext cx="6296860" cy="3797995"/>
          </a:xfrm>
          <a:prstGeom prst="rect">
            <a:avLst/>
          </a:prstGeom>
          <a:noFill/>
          <a:ln/>
        </p:spPr>
        <p:txBody>
          <a:bodyPr wrap="square" lIns="0" tIns="0" rIns="0" bIns="0" rtlCol="0" anchor="t">
            <a:normAutofit/>
          </a:bodyPr>
          <a:lstStyle/>
          <a:p>
            <a:pPr algn="l" marL="284480" indent="-284480">
              <a:lnSpc>
                <a:spcPct val="130000"/>
              </a:lnSpc>
              <a:buSzPct val="100000"/>
              <a:buChar char="•"/>
            </a:pPr>
            <a:r>
              <a:rPr lang="en-US" sz="1400" b="1" spc="-28" kern="0" dirty="0">
                <a:solidFill>
                  <a:srgbClr val="2B2E3C"/>
                </a:solidFill>
                <a:latin typeface="Open Sans Bold" pitchFamily="34" charset="0"/>
                <a:ea typeface="Open Sans Bold" pitchFamily="34" charset="-122"/>
                <a:cs typeface="Open Sans Bold" pitchFamily="34" charset="-120"/>
              </a:rPr>
              <a:t>Devices:</a:t>
            </a:r>
            <a:pPr algn="l" marL="284480" indent="-284480">
              <a:lnSpc>
                <a:spcPct val="130000"/>
              </a:lnSpc>
              <a:buSzPct val="100000"/>
              <a:buChar char="•"/>
            </a:pPr>
            <a:r>
              <a:rPr lang="en-US" sz="1400" spc="-28" kern="0" dirty="0">
                <a:solidFill>
                  <a:srgbClr val="2B2E3C"/>
                </a:solidFill>
                <a:latin typeface="Open Sans" pitchFamily="34" charset="0"/>
                <a:ea typeface="Open Sans" pitchFamily="34" charset="-122"/>
                <a:cs typeface="Open Sans" pitchFamily="34" charset="-120"/>
              </a:rPr>
              <a:t> 1 Router connected to 1 main switch, which then connects to:</a:t>
            </a:r>
            <a:endParaRPr lang="en-US" sz="1400" dirty="0"/>
          </a:p>
          <a:p>
            <a:pPr algn="l" lvl="1" marL="568960" indent="-284480">
              <a:lnSpc>
                <a:spcPct val="130000"/>
              </a:lnSpc>
              <a:buSzPct val="100000"/>
              <a:buChar char="◦"/>
            </a:pPr>
            <a:r>
              <a:rPr lang="en-US" sz="1400" spc="-28" kern="0" dirty="0">
                <a:solidFill>
                  <a:srgbClr val="2B2E3C"/>
                </a:solidFill>
                <a:latin typeface="Open Sans" pitchFamily="34" charset="0"/>
                <a:ea typeface="Open Sans" pitchFamily="34" charset="-122"/>
                <a:cs typeface="Open Sans" pitchFamily="34" charset="-120"/>
              </a:rPr>
              <a:t>Switch 1 → VLAN 80 → 1 PC</a:t>
            </a:r>
            <a:endParaRPr lang="en-US" sz="1400" dirty="0"/>
          </a:p>
          <a:p>
            <a:pPr algn="l" lvl="1" marL="568960" indent="-284480">
              <a:lnSpc>
                <a:spcPct val="130000"/>
              </a:lnSpc>
              <a:buSzPct val="100000"/>
              <a:buChar char="◦"/>
            </a:pPr>
            <a:r>
              <a:rPr lang="en-US" sz="1400" spc="-28" kern="0" dirty="0">
                <a:solidFill>
                  <a:srgbClr val="2B2E3C"/>
                </a:solidFill>
                <a:latin typeface="Open Sans" pitchFamily="34" charset="0"/>
                <a:ea typeface="Open Sans" pitchFamily="34" charset="-122"/>
                <a:cs typeface="Open Sans" pitchFamily="34" charset="-120"/>
              </a:rPr>
              <a:t>Switch 2 → VLAN 70 → 1 PC</a:t>
            </a:r>
            <a:endParaRPr lang="en-US" sz="1400" dirty="0"/>
          </a:p>
          <a:p>
            <a:pPr algn="l" marL="284480" indent="-284480">
              <a:lnSpc>
                <a:spcPct val="130000"/>
              </a:lnSpc>
              <a:buSzPct val="100000"/>
              <a:buChar char="•"/>
            </a:pPr>
            <a:r>
              <a:rPr lang="en-US" sz="1400" b="1" spc="-28" kern="0" dirty="0">
                <a:solidFill>
                  <a:srgbClr val="2B2E3C"/>
                </a:solidFill>
                <a:latin typeface="Open Sans Bold" pitchFamily="34" charset="0"/>
                <a:ea typeface="Open Sans Bold" pitchFamily="34" charset="-122"/>
                <a:cs typeface="Open Sans Bold" pitchFamily="34" charset="-120"/>
              </a:rPr>
              <a:t>Physical Security:</a:t>
            </a:r>
            <a:pPr algn="l" marL="284480" indent="-284480">
              <a:lnSpc>
                <a:spcPct val="130000"/>
              </a:lnSpc>
              <a:buSzPct val="100000"/>
              <a:buChar char="•"/>
            </a:pPr>
            <a:r>
              <a:rPr lang="en-US" sz="1400" spc="-28" kern="0" dirty="0">
                <a:solidFill>
                  <a:srgbClr val="2B2E3C"/>
                </a:solidFill>
                <a:latin typeface="Open Sans" pitchFamily="34" charset="0"/>
                <a:ea typeface="Open Sans" pitchFamily="34" charset="-122"/>
                <a:cs typeface="Open Sans" pitchFamily="34" charset="-120"/>
              </a:rPr>
              <a:t> Webcams, trip sensors, alarms, and motion sensors are installed for comprehensive environmental monitoring.</a:t>
            </a:r>
            <a:endParaRPr lang="en-US" sz="1400" dirty="0"/>
          </a:p>
          <a:p>
            <a:pPr algn="l" marL="284480" indent="-284480">
              <a:lnSpc>
                <a:spcPct val="130000"/>
              </a:lnSpc>
              <a:buSzPct val="100000"/>
              <a:buChar char="•"/>
            </a:pPr>
            <a:r>
              <a:rPr lang="en-US" sz="1400" b="1" spc="-28" kern="0" dirty="0">
                <a:solidFill>
                  <a:srgbClr val="2B2E3C"/>
                </a:solidFill>
                <a:latin typeface="Open Sans Bold" pitchFamily="34" charset="0"/>
                <a:ea typeface="Open Sans Bold" pitchFamily="34" charset="-122"/>
                <a:cs typeface="Open Sans Bold" pitchFamily="34" charset="-120"/>
              </a:rPr>
              <a:t>Layer 2 Security:</a:t>
            </a:r>
            <a:endParaRPr lang="en-US" sz="1400" dirty="0"/>
          </a:p>
          <a:p>
            <a:pPr algn="l" lvl="1" marL="568960" indent="-284480">
              <a:lnSpc>
                <a:spcPct val="130000"/>
              </a:lnSpc>
              <a:buSzPct val="100000"/>
              <a:buChar char="◦"/>
            </a:pPr>
            <a:r>
              <a:rPr lang="en-US" sz="1400" b="1" spc="-28" kern="0" dirty="0">
                <a:solidFill>
                  <a:srgbClr val="2B2E3C"/>
                </a:solidFill>
                <a:latin typeface="Open Sans Bold" pitchFamily="34" charset="0"/>
                <a:ea typeface="Open Sans Bold" pitchFamily="34" charset="-122"/>
                <a:cs typeface="Open Sans Bold" pitchFamily="34" charset="-120"/>
              </a:rPr>
              <a:t>Port Security:</a:t>
            </a:r>
            <a:pPr algn="l" lvl="1" marL="568960" indent="-284480">
              <a:lnSpc>
                <a:spcPct val="130000"/>
              </a:lnSpc>
              <a:buSzPct val="100000"/>
              <a:buChar char="◦"/>
            </a:pPr>
            <a:r>
              <a:rPr lang="en-US" sz="1400" spc="-28" kern="0" dirty="0">
                <a:solidFill>
                  <a:srgbClr val="2B2E3C"/>
                </a:solidFill>
                <a:latin typeface="Open Sans" pitchFamily="34" charset="0"/>
                <a:ea typeface="Open Sans" pitchFamily="34" charset="-122"/>
                <a:cs typeface="Open Sans" pitchFamily="34" charset="-120"/>
              </a:rPr>
              <a:t> Configured on all switches to limit MAC addresses per port, preventing MAC flooding attacks.</a:t>
            </a:r>
            <a:endParaRPr lang="en-US" sz="1400" dirty="0"/>
          </a:p>
          <a:p>
            <a:pPr algn="l" lvl="1" marL="568960" indent="-284480">
              <a:lnSpc>
                <a:spcPct val="130000"/>
              </a:lnSpc>
              <a:buSzPct val="100000"/>
              <a:buChar char="◦"/>
            </a:pPr>
            <a:r>
              <a:rPr lang="en-US" sz="1400" b="1" spc="-28" kern="0" dirty="0">
                <a:solidFill>
                  <a:srgbClr val="2B2E3C"/>
                </a:solidFill>
                <a:latin typeface="Open Sans Bold" pitchFamily="34" charset="0"/>
                <a:ea typeface="Open Sans Bold" pitchFamily="34" charset="-122"/>
                <a:cs typeface="Open Sans Bold" pitchFamily="34" charset="-120"/>
              </a:rPr>
              <a:t>PortFast:</a:t>
            </a:r>
            <a:pPr algn="l" lvl="1" marL="568960" indent="-284480">
              <a:lnSpc>
                <a:spcPct val="130000"/>
              </a:lnSpc>
              <a:buSzPct val="100000"/>
              <a:buChar char="◦"/>
            </a:pPr>
            <a:r>
              <a:rPr lang="en-US" sz="1400" spc="-28" kern="0" dirty="0">
                <a:solidFill>
                  <a:srgbClr val="2B2E3C"/>
                </a:solidFill>
                <a:latin typeface="Open Sans" pitchFamily="34" charset="0"/>
                <a:ea typeface="Open Sans" pitchFamily="34" charset="-122"/>
                <a:cs typeface="Open Sans" pitchFamily="34" charset="-120"/>
              </a:rPr>
              <a:t> Enabled on access ports to bypass the listening and learning states of Spanning Tree Protocol (STP), reducing network downtime.</a:t>
            </a:r>
            <a:endParaRPr lang="en-US" sz="1400" dirty="0"/>
          </a:p>
          <a:p>
            <a:pPr algn="l" lvl="1" marL="568960" indent="-284480">
              <a:lnSpc>
                <a:spcPct val="130000"/>
              </a:lnSpc>
              <a:buSzPct val="100000"/>
              <a:buChar char="◦"/>
            </a:pPr>
            <a:r>
              <a:rPr lang="en-US" sz="1400" b="1" spc="-28" kern="0" dirty="0">
                <a:solidFill>
                  <a:srgbClr val="2B2E3C"/>
                </a:solidFill>
                <a:latin typeface="Open Sans Bold" pitchFamily="34" charset="0"/>
                <a:ea typeface="Open Sans Bold" pitchFamily="34" charset="-122"/>
                <a:cs typeface="Open Sans Bold" pitchFamily="34" charset="-120"/>
              </a:rPr>
              <a:t>Unused Ports Disabled:</a:t>
            </a:r>
            <a:pPr algn="l" lvl="1" marL="568960" indent="-284480">
              <a:lnSpc>
                <a:spcPct val="130000"/>
              </a:lnSpc>
              <a:buSzPct val="100000"/>
              <a:buChar char="◦"/>
            </a:pPr>
            <a:r>
              <a:rPr lang="en-US" sz="1400" spc="-28" kern="0" dirty="0">
                <a:solidFill>
                  <a:srgbClr val="2B2E3C"/>
                </a:solidFill>
                <a:latin typeface="Open Sans" pitchFamily="34" charset="0"/>
                <a:ea typeface="Open Sans" pitchFamily="34" charset="-122"/>
                <a:cs typeface="Open Sans" pitchFamily="34" charset="-120"/>
              </a:rPr>
              <a:t> All inactive switch ports are administratively shut down to prevent unauthorized connections.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694630"/>
            <a:ext cx="10868745" cy="295275"/>
          </a:xfrm>
          <a:prstGeom prst="rect">
            <a:avLst/>
          </a:prstGeom>
          <a:noFill/>
          <a:ln/>
        </p:spPr>
        <p:txBody>
          <a:bodyPr wrap="none" lIns="0" tIns="0" rIns="0" bIns="0" rtlCol="0" anchor="t"/>
          <a:lstStyle/>
          <a:p>
            <a:pPr algn="l" indent="0" marL="0">
              <a:lnSpc>
                <a:spcPct val="104000"/>
              </a:lnSpc>
              <a:buNone/>
            </a:pPr>
            <a:r>
              <a:rPr lang="en-US" sz="1850" spc="-56" kern="0" dirty="0">
                <a:solidFill>
                  <a:srgbClr val="2C3F42"/>
                </a:solidFill>
                <a:latin typeface="Bitter Medium" pitchFamily="34" charset="0"/>
                <a:ea typeface="Bitter Medium" pitchFamily="34" charset="-122"/>
                <a:cs typeface="Bitter Medium" pitchFamily="34" charset="-120"/>
              </a:rPr>
              <a:t>Section 7</a:t>
            </a:r>
            <a:endParaRPr lang="en-US" sz="1850" dirty="0"/>
          </a:p>
        </p:txBody>
      </p:sp>
      <p:sp>
        <p:nvSpPr>
          <p:cNvPr id="3" name="Text 1"/>
          <p:cNvSpPr/>
          <p:nvPr/>
        </p:nvSpPr>
        <p:spPr>
          <a:xfrm>
            <a:off x="661475" y="1065510"/>
            <a:ext cx="10868745" cy="590649"/>
          </a:xfrm>
          <a:prstGeom prst="rect">
            <a:avLst/>
          </a:prstGeom>
          <a:noFill/>
          <a:ln/>
        </p:spPr>
        <p:txBody>
          <a:bodyPr wrap="none" lIns="0" tIns="0" rIns="0" bIns="0" rtlCol="0" anchor="t"/>
          <a:lstStyle/>
          <a:p>
            <a:pPr algn="l" indent="0" marL="0">
              <a:lnSpc>
                <a:spcPct val="104000"/>
              </a:lnSpc>
              <a:buNone/>
            </a:pPr>
            <a:r>
              <a:rPr lang="en-US" sz="3700" spc="-112" kern="0" dirty="0">
                <a:solidFill>
                  <a:srgbClr val="2C3F42"/>
                </a:solidFill>
                <a:latin typeface="Bitter Medium" pitchFamily="34" charset="0"/>
                <a:ea typeface="Bitter Medium" pitchFamily="34" charset="-122"/>
                <a:cs typeface="Bitter Medium" pitchFamily="34" charset="-120"/>
              </a:rPr>
              <a:t>Zone 5: AAA, Logging</a:t>
            </a:r>
            <a:endParaRPr lang="en-US" sz="3700" dirty="0"/>
          </a:p>
        </p:txBody>
      </p:sp>
      <p:sp>
        <p:nvSpPr>
          <p:cNvPr id="4" name="Text 2"/>
          <p:cNvSpPr/>
          <p:nvPr/>
        </p:nvSpPr>
        <p:spPr>
          <a:xfrm>
            <a:off x="661475" y="1939627"/>
            <a:ext cx="10868745" cy="4223742"/>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b="1" spc="-30" kern="0" dirty="0">
                <a:solidFill>
                  <a:srgbClr val="2B2E3C"/>
                </a:solidFill>
                <a:latin typeface="Open Sans Bold" pitchFamily="34" charset="0"/>
                <a:ea typeface="Open Sans Bold" pitchFamily="34" charset="-122"/>
                <a:cs typeface="Open Sans Bold" pitchFamily="34" charset="-120"/>
              </a:rPr>
              <a:t>Devices:</a:t>
            </a:r>
            <a:pPr algn="l" marL="294640" indent="-294640">
              <a:lnSpc>
                <a:spcPct val="133000"/>
              </a:lnSpc>
              <a:buSzPct val="100000"/>
              <a:buChar char="•"/>
            </a:pPr>
            <a:r>
              <a:rPr lang="en-US" sz="1450" spc="-30" kern="0" dirty="0">
                <a:solidFill>
                  <a:srgbClr val="2B2E3C"/>
                </a:solidFill>
                <a:latin typeface="Open Sans" pitchFamily="34" charset="0"/>
                <a:ea typeface="Open Sans" pitchFamily="34" charset="-122"/>
                <a:cs typeface="Open Sans" pitchFamily="34" charset="-120"/>
              </a:rPr>
              <a:t> 1 Router, connecting to:</a:t>
            </a:r>
            <a:endParaRPr lang="en-US" sz="1450" dirty="0"/>
          </a:p>
          <a:p>
            <a:pPr algn="l" lvl="1" marL="589280" indent="-294640">
              <a:lnSpc>
                <a:spcPct val="133000"/>
              </a:lnSpc>
              <a:buSzPct val="100000"/>
              <a:buChar char="◦"/>
            </a:pPr>
            <a:r>
              <a:rPr lang="en-US" sz="1450" spc="-30" kern="0" dirty="0">
                <a:solidFill>
                  <a:srgbClr val="2B2E3C"/>
                </a:solidFill>
                <a:latin typeface="Open Sans" pitchFamily="34" charset="0"/>
                <a:ea typeface="Open Sans" pitchFamily="34" charset="-122"/>
                <a:cs typeface="Open Sans" pitchFamily="34" charset="-120"/>
              </a:rPr>
              <a:t>Switch 1 → NTB Server, Syslog Server</a:t>
            </a:r>
            <a:endParaRPr lang="en-US" sz="1450" dirty="0"/>
          </a:p>
          <a:p>
            <a:pPr algn="l" lvl="1" marL="589280" indent="-294640">
              <a:lnSpc>
                <a:spcPct val="133000"/>
              </a:lnSpc>
              <a:buSzPct val="100000"/>
              <a:buChar char="◦"/>
            </a:pPr>
            <a:r>
              <a:rPr lang="en-US" sz="1450" spc="-30" kern="0" dirty="0">
                <a:solidFill>
                  <a:srgbClr val="2B2E3C"/>
                </a:solidFill>
                <a:latin typeface="Open Sans" pitchFamily="34" charset="0"/>
                <a:ea typeface="Open Sans" pitchFamily="34" charset="-122"/>
                <a:cs typeface="Open Sans" pitchFamily="34" charset="-120"/>
              </a:rPr>
              <a:t>Switch 2 → VC (Voice Communication), TACACS+, RADIUS Servers</a:t>
            </a:r>
            <a:endParaRPr lang="en-US" sz="1450" dirty="0"/>
          </a:p>
          <a:p>
            <a:pPr algn="l" lvl="1" marL="589280" indent="-294640">
              <a:lnSpc>
                <a:spcPct val="133000"/>
              </a:lnSpc>
              <a:buSzPct val="100000"/>
              <a:buChar char="◦"/>
            </a:pPr>
            <a:r>
              <a:rPr lang="en-US" sz="1450" spc="-30" kern="0" dirty="0">
                <a:solidFill>
                  <a:srgbClr val="2B2E3C"/>
                </a:solidFill>
                <a:latin typeface="Open Sans" pitchFamily="34" charset="0"/>
                <a:ea typeface="Open Sans" pitchFamily="34" charset="-122"/>
                <a:cs typeface="Open Sans" pitchFamily="34" charset="-120"/>
              </a:rPr>
              <a:t>Switch 3 → 2 PCs, Web Server 2</a:t>
            </a:r>
            <a:endParaRPr lang="en-US" sz="1450" dirty="0"/>
          </a:p>
          <a:p>
            <a:pPr algn="l" marL="294640" indent="-294640">
              <a:lnSpc>
                <a:spcPct val="133000"/>
              </a:lnSpc>
              <a:buSzPct val="100000"/>
              <a:buChar char="•"/>
            </a:pPr>
            <a:r>
              <a:rPr lang="en-US" sz="1450" b="1" spc="-30" kern="0" dirty="0">
                <a:solidFill>
                  <a:srgbClr val="2B2E3C"/>
                </a:solidFill>
                <a:latin typeface="Open Sans Bold" pitchFamily="34" charset="0"/>
                <a:ea typeface="Open Sans Bold" pitchFamily="34" charset="-122"/>
                <a:cs typeface="Open Sans Bold" pitchFamily="34" charset="-120"/>
              </a:rPr>
              <a:t>Physical Security:</a:t>
            </a:r>
            <a:pPr algn="l" marL="294640" indent="-294640">
              <a:lnSpc>
                <a:spcPct val="133000"/>
              </a:lnSpc>
              <a:buSzPct val="100000"/>
              <a:buChar char="•"/>
            </a:pPr>
            <a:r>
              <a:rPr lang="en-US" sz="1450" spc="-30" kern="0" dirty="0">
                <a:solidFill>
                  <a:srgbClr val="2B2E3C"/>
                </a:solidFill>
                <a:latin typeface="Open Sans" pitchFamily="34" charset="0"/>
                <a:ea typeface="Open Sans" pitchFamily="34" charset="-122"/>
                <a:cs typeface="Open Sans" pitchFamily="34" charset="-120"/>
              </a:rPr>
              <a:t> Webcams, trip sensors, alarms, and smoke sensors ensure multi-faceted physical threat detection.</a:t>
            </a:r>
            <a:endParaRPr lang="en-US" sz="1450" dirty="0"/>
          </a:p>
          <a:p>
            <a:pPr algn="l" marL="294640" indent="-294640">
              <a:lnSpc>
                <a:spcPct val="133000"/>
              </a:lnSpc>
              <a:buSzPct val="100000"/>
              <a:buChar char="•"/>
            </a:pPr>
            <a:r>
              <a:rPr lang="en-US" sz="1450" b="1" spc="-30" kern="0" dirty="0">
                <a:solidFill>
                  <a:srgbClr val="2B2E3C"/>
                </a:solidFill>
                <a:latin typeface="Open Sans Bold" pitchFamily="34" charset="0"/>
                <a:ea typeface="Open Sans Bold" pitchFamily="34" charset="-122"/>
                <a:cs typeface="Open Sans Bold" pitchFamily="34" charset="-120"/>
              </a:rPr>
              <a:t>AAA Implementation:</a:t>
            </a:r>
            <a:endParaRPr lang="en-US" sz="1450" dirty="0"/>
          </a:p>
          <a:p>
            <a:pPr algn="l" lvl="1" marL="589280" indent="-294640">
              <a:lnSpc>
                <a:spcPct val="133000"/>
              </a:lnSpc>
              <a:buSzPct val="100000"/>
              <a:buChar char="◦"/>
            </a:pPr>
            <a:r>
              <a:rPr lang="en-US" sz="1450" b="1" spc="-30" kern="0" dirty="0">
                <a:solidFill>
                  <a:srgbClr val="2B2E3C"/>
                </a:solidFill>
                <a:latin typeface="Open Sans Bold" pitchFamily="34" charset="0"/>
                <a:ea typeface="Open Sans Bold" pitchFamily="34" charset="-122"/>
                <a:cs typeface="Open Sans Bold" pitchFamily="34" charset="-120"/>
              </a:rPr>
              <a:t>TACACS+:</a:t>
            </a:r>
            <a:pPr algn="l" lvl="1" marL="589280" indent="-294640">
              <a:lnSpc>
                <a:spcPct val="133000"/>
              </a:lnSpc>
              <a:buSzPct val="100000"/>
              <a:buChar char="◦"/>
            </a:pPr>
            <a:r>
              <a:rPr lang="en-US" sz="1450" spc="-30" kern="0" dirty="0">
                <a:solidFill>
                  <a:srgbClr val="2B2E3C"/>
                </a:solidFill>
                <a:latin typeface="Open Sans" pitchFamily="34" charset="0"/>
                <a:ea typeface="Open Sans" pitchFamily="34" charset="-122"/>
                <a:cs typeface="Open Sans" pitchFamily="34" charset="-120"/>
              </a:rPr>
              <a:t> Utilized for centralized command authorization and administrator authentication, providing granular control over CLI commands.</a:t>
            </a:r>
            <a:endParaRPr lang="en-US" sz="1450" dirty="0"/>
          </a:p>
          <a:p>
            <a:pPr algn="l" lvl="1" marL="589280" indent="-294640">
              <a:lnSpc>
                <a:spcPct val="133000"/>
              </a:lnSpc>
              <a:buSzPct val="100000"/>
              <a:buChar char="◦"/>
            </a:pPr>
            <a:r>
              <a:rPr lang="en-US" sz="1450" b="1" spc="-30" kern="0" dirty="0">
                <a:solidFill>
                  <a:srgbClr val="2B2E3C"/>
                </a:solidFill>
                <a:latin typeface="Open Sans Bold" pitchFamily="34" charset="0"/>
                <a:ea typeface="Open Sans Bold" pitchFamily="34" charset="-122"/>
                <a:cs typeface="Open Sans Bold" pitchFamily="34" charset="-120"/>
              </a:rPr>
              <a:t>RADIUS:</a:t>
            </a:r>
            <a:pPr algn="l" lvl="1" marL="589280" indent="-294640">
              <a:lnSpc>
                <a:spcPct val="133000"/>
              </a:lnSpc>
              <a:buSzPct val="100000"/>
              <a:buChar char="◦"/>
            </a:pPr>
            <a:r>
              <a:rPr lang="en-US" sz="1450" spc="-30" kern="0" dirty="0">
                <a:solidFill>
                  <a:srgbClr val="2B2E3C"/>
                </a:solidFill>
                <a:latin typeface="Open Sans" pitchFamily="34" charset="0"/>
                <a:ea typeface="Open Sans" pitchFamily="34" charset="-122"/>
                <a:cs typeface="Open Sans" pitchFamily="34" charset="-120"/>
              </a:rPr>
              <a:t> Employed for user authentication and accounting, especially for network access and VPN connections.</a:t>
            </a:r>
            <a:endParaRPr lang="en-US" sz="1450" dirty="0"/>
          </a:p>
          <a:p>
            <a:pPr algn="l" marL="294640" indent="-294640">
              <a:lnSpc>
                <a:spcPct val="133000"/>
              </a:lnSpc>
              <a:buSzPct val="100000"/>
              <a:buChar char="•"/>
            </a:pPr>
            <a:r>
              <a:rPr lang="en-US" sz="1450" b="1" spc="-30" kern="0" dirty="0">
                <a:solidFill>
                  <a:srgbClr val="2B2E3C"/>
                </a:solidFill>
                <a:latin typeface="Open Sans Bold" pitchFamily="34" charset="0"/>
                <a:ea typeface="Open Sans Bold" pitchFamily="34" charset="-122"/>
                <a:cs typeface="Open Sans Bold" pitchFamily="34" charset="-120"/>
              </a:rPr>
              <a:t>Network Logging:</a:t>
            </a:r>
            <a:pPr algn="l" marL="294640" indent="-294640">
              <a:lnSpc>
                <a:spcPct val="133000"/>
              </a:lnSpc>
              <a:buSzPct val="100000"/>
              <a:buChar char="•"/>
            </a:pPr>
            <a:r>
              <a:rPr lang="en-US" sz="1450" spc="-30" kern="0" dirty="0">
                <a:solidFill>
                  <a:srgbClr val="2B2E3C"/>
                </a:solidFill>
                <a:latin typeface="Open Sans" pitchFamily="34" charset="0"/>
                <a:ea typeface="Open Sans" pitchFamily="34" charset="-122"/>
                <a:cs typeface="Open Sans" pitchFamily="34" charset="-120"/>
              </a:rPr>
              <a:t> A dedicated Syslog Server is configured to collect and centralize network logs from all devices for auditing and incident response.</a:t>
            </a:r>
            <a:endParaRPr lang="en-US" sz="1450" dirty="0"/>
          </a:p>
          <a:p>
            <a:pPr algn="l" marL="294640" indent="-294640">
              <a:lnSpc>
                <a:spcPct val="133000"/>
              </a:lnSpc>
              <a:buSzPct val="100000"/>
              <a:buChar char="•"/>
            </a:pPr>
            <a:r>
              <a:rPr lang="en-US" sz="1450" b="1" spc="-30" kern="0" dirty="0">
                <a:solidFill>
                  <a:srgbClr val="2B2E3C"/>
                </a:solidFill>
                <a:latin typeface="Open Sans Bold" pitchFamily="34" charset="0"/>
                <a:ea typeface="Open Sans Bold" pitchFamily="34" charset="-122"/>
                <a:cs typeface="Open Sans Bold" pitchFamily="34" charset="-120"/>
              </a:rPr>
              <a:t>Port Security:</a:t>
            </a:r>
            <a:pPr algn="l" marL="294640" indent="-294640">
              <a:lnSpc>
                <a:spcPct val="133000"/>
              </a:lnSpc>
              <a:buSzPct val="100000"/>
              <a:buChar char="•"/>
            </a:pPr>
            <a:r>
              <a:rPr lang="en-US" sz="1450" spc="-30" kern="0" dirty="0">
                <a:solidFill>
                  <a:srgbClr val="2B2E3C"/>
                </a:solidFill>
                <a:latin typeface="Open Sans" pitchFamily="34" charset="0"/>
                <a:ea typeface="Open Sans" pitchFamily="34" charset="-122"/>
                <a:cs typeface="Open Sans" pitchFamily="34" charset="-120"/>
              </a:rPr>
              <a:t> Configured across all switches, with unused ports disabled to prevent unauthorized network access.</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2325787"/>
          </a:xfrm>
          <a:prstGeom prst="rect">
            <a:avLst/>
          </a:prstGeom>
        </p:spPr>
      </p:pic>
      <p:sp>
        <p:nvSpPr>
          <p:cNvPr id="3" name="Text 0"/>
          <p:cNvSpPr/>
          <p:nvPr/>
        </p:nvSpPr>
        <p:spPr>
          <a:xfrm>
            <a:off x="661475" y="2852241"/>
            <a:ext cx="10868745" cy="290711"/>
          </a:xfrm>
          <a:prstGeom prst="rect">
            <a:avLst/>
          </a:prstGeom>
          <a:noFill/>
          <a:ln/>
        </p:spPr>
        <p:txBody>
          <a:bodyPr wrap="none" lIns="0" tIns="0" rIns="0" bIns="0" rtlCol="0" anchor="t"/>
          <a:lstStyle/>
          <a:p>
            <a:pPr algn="l" indent="0" marL="0">
              <a:lnSpc>
                <a:spcPct val="104000"/>
              </a:lnSpc>
              <a:buNone/>
            </a:pPr>
            <a:r>
              <a:rPr lang="en-US" sz="1800" spc="-55" kern="0" dirty="0">
                <a:solidFill>
                  <a:srgbClr val="2C3F42"/>
                </a:solidFill>
                <a:latin typeface="Bitter Medium" pitchFamily="34" charset="0"/>
                <a:ea typeface="Bitter Medium" pitchFamily="34" charset="-122"/>
                <a:cs typeface="Bitter Medium" pitchFamily="34" charset="-120"/>
              </a:rPr>
              <a:t>Section 8</a:t>
            </a:r>
            <a:endParaRPr lang="en-US" sz="1800" dirty="0"/>
          </a:p>
        </p:txBody>
      </p:sp>
      <p:sp>
        <p:nvSpPr>
          <p:cNvPr id="4" name="Text 1"/>
          <p:cNvSpPr/>
          <p:nvPr/>
        </p:nvSpPr>
        <p:spPr>
          <a:xfrm>
            <a:off x="661475" y="3216176"/>
            <a:ext cx="10868745" cy="581422"/>
          </a:xfrm>
          <a:prstGeom prst="rect">
            <a:avLst/>
          </a:prstGeom>
          <a:noFill/>
          <a:ln/>
        </p:spPr>
        <p:txBody>
          <a:bodyPr wrap="none" lIns="0" tIns="0" rIns="0" bIns="0" rtlCol="0" anchor="t"/>
          <a:lstStyle/>
          <a:p>
            <a:pPr algn="l" indent="0" marL="0">
              <a:lnSpc>
                <a:spcPct val="104000"/>
              </a:lnSpc>
              <a:buNone/>
            </a:pPr>
            <a:r>
              <a:rPr lang="en-US" sz="3650" spc="-110" kern="0" dirty="0">
                <a:solidFill>
                  <a:srgbClr val="2C3F42"/>
                </a:solidFill>
                <a:latin typeface="Bitter Medium" pitchFamily="34" charset="0"/>
                <a:ea typeface="Bitter Medium" pitchFamily="34" charset="-122"/>
                <a:cs typeface="Bitter Medium" pitchFamily="34" charset="-120"/>
              </a:rPr>
              <a:t>Zone 6: Secure Web Presence and Access</a:t>
            </a:r>
            <a:endParaRPr lang="en-US" sz="3650" dirty="0"/>
          </a:p>
        </p:txBody>
      </p:sp>
      <p:sp>
        <p:nvSpPr>
          <p:cNvPr id="5" name="Text 2"/>
          <p:cNvSpPr/>
          <p:nvPr/>
        </p:nvSpPr>
        <p:spPr>
          <a:xfrm>
            <a:off x="661475" y="4072334"/>
            <a:ext cx="10868745" cy="2259211"/>
          </a:xfrm>
          <a:prstGeom prst="rect">
            <a:avLst/>
          </a:prstGeom>
          <a:noFill/>
          <a:ln/>
        </p:spPr>
        <p:txBody>
          <a:bodyPr wrap="square" lIns="0" tIns="0" rIns="0" bIns="0" rtlCol="0" anchor="t">
            <a:normAutofit/>
          </a:bodyPr>
          <a:lstStyle/>
          <a:p>
            <a:pPr algn="l" marL="294640" indent="-294640">
              <a:lnSpc>
                <a:spcPct val="132000"/>
              </a:lnSpc>
              <a:buSzPct val="100000"/>
              <a:buChar char="•"/>
            </a:pPr>
            <a:r>
              <a:rPr lang="en-US" sz="1450" b="1" spc="-29" kern="0" dirty="0">
                <a:solidFill>
                  <a:srgbClr val="2B2E3C"/>
                </a:solidFill>
                <a:latin typeface="Open Sans Bold" pitchFamily="34" charset="0"/>
                <a:ea typeface="Open Sans Bold" pitchFamily="34" charset="-122"/>
                <a:cs typeface="Open Sans Bold" pitchFamily="34" charset="-120"/>
              </a:rPr>
              <a:t>Devices:</a:t>
            </a:r>
            <a:pPr algn="l" marL="294640" indent="-294640">
              <a:lnSpc>
                <a:spcPct val="132000"/>
              </a:lnSpc>
              <a:buSzPct val="100000"/>
              <a:buChar char="•"/>
            </a:pPr>
            <a:r>
              <a:rPr lang="en-US" sz="1450" spc="-29" kern="0" dirty="0">
                <a:solidFill>
                  <a:srgbClr val="2B2E3C"/>
                </a:solidFill>
                <a:latin typeface="Open Sans" pitchFamily="34" charset="0"/>
                <a:ea typeface="Open Sans" pitchFamily="34" charset="-122"/>
                <a:cs typeface="Open Sans" pitchFamily="34" charset="-120"/>
              </a:rPr>
              <a:t> 1 Router and 1 Switch connected to 2 PCs and Web Server 2.</a:t>
            </a:r>
            <a:endParaRPr lang="en-US" sz="1450" dirty="0"/>
          </a:p>
          <a:p>
            <a:pPr algn="l" marL="294640" indent="-294640">
              <a:lnSpc>
                <a:spcPct val="132000"/>
              </a:lnSpc>
              <a:buSzPct val="100000"/>
              <a:buChar char="•"/>
            </a:pPr>
            <a:r>
              <a:rPr lang="en-US" sz="1450" b="1" spc="-29" kern="0" dirty="0">
                <a:solidFill>
                  <a:srgbClr val="2B2E3C"/>
                </a:solidFill>
                <a:latin typeface="Open Sans Bold" pitchFamily="34" charset="0"/>
                <a:ea typeface="Open Sans Bold" pitchFamily="34" charset="-122"/>
                <a:cs typeface="Open Sans Bold" pitchFamily="34" charset="-120"/>
              </a:rPr>
              <a:t>Physical Security:</a:t>
            </a:r>
            <a:pPr algn="l" marL="294640" indent="-294640">
              <a:lnSpc>
                <a:spcPct val="132000"/>
              </a:lnSpc>
              <a:buSzPct val="100000"/>
              <a:buChar char="•"/>
            </a:pPr>
            <a:r>
              <a:rPr lang="en-US" sz="1450" spc="-29" kern="0" dirty="0">
                <a:solidFill>
                  <a:srgbClr val="2B2E3C"/>
                </a:solidFill>
                <a:latin typeface="Open Sans" pitchFamily="34" charset="0"/>
                <a:ea typeface="Open Sans" pitchFamily="34" charset="-122"/>
                <a:cs typeface="Open Sans" pitchFamily="34" charset="-120"/>
              </a:rPr>
              <a:t> Webcams, trip sensors, alarms, and motion sensors are strategically placed to monitor the environment for any unauthorized activity.</a:t>
            </a:r>
            <a:endParaRPr lang="en-US" sz="1450" dirty="0"/>
          </a:p>
          <a:p>
            <a:pPr algn="l" marL="294640" indent="-294640">
              <a:lnSpc>
                <a:spcPct val="132000"/>
              </a:lnSpc>
              <a:buSzPct val="100000"/>
              <a:buChar char="•"/>
            </a:pPr>
            <a:r>
              <a:rPr lang="en-US" sz="1450" b="1" spc="-29" kern="0" dirty="0">
                <a:solidFill>
                  <a:srgbClr val="2B2E3C"/>
                </a:solidFill>
                <a:latin typeface="Open Sans Bold" pitchFamily="34" charset="0"/>
                <a:ea typeface="Open Sans Bold" pitchFamily="34" charset="-122"/>
                <a:cs typeface="Open Sans Bold" pitchFamily="34" charset="-120"/>
              </a:rPr>
              <a:t>Secure Management:</a:t>
            </a:r>
            <a:pPr algn="l" marL="294640" indent="-294640">
              <a:lnSpc>
                <a:spcPct val="132000"/>
              </a:lnSpc>
              <a:buSzPct val="100000"/>
              <a:buChar char="•"/>
            </a:pPr>
            <a:r>
              <a:rPr lang="en-US" sz="1450" spc="-29" kern="0" dirty="0">
                <a:solidFill>
                  <a:srgbClr val="2B2E3C"/>
                </a:solidFill>
                <a:latin typeface="Open Sans" pitchFamily="34" charset="0"/>
                <a:ea typeface="Open Sans" pitchFamily="34" charset="-122"/>
                <a:cs typeface="Open Sans" pitchFamily="34" charset="-120"/>
              </a:rPr>
              <a:t> SSH is enabled on the router, providing secure encrypted channels for remote configuration and management, protecting against eavesdropping and tampering.</a:t>
            </a:r>
            <a:endParaRPr lang="en-US" sz="1450" dirty="0"/>
          </a:p>
          <a:p>
            <a:pPr algn="l" marL="294640" indent="-294640">
              <a:lnSpc>
                <a:spcPct val="132000"/>
              </a:lnSpc>
              <a:buSzPct val="100000"/>
              <a:buChar char="•"/>
            </a:pPr>
            <a:r>
              <a:rPr lang="en-US" sz="1450" b="1" spc="-29" kern="0" dirty="0">
                <a:solidFill>
                  <a:srgbClr val="2B2E3C"/>
                </a:solidFill>
                <a:latin typeface="Open Sans Bold" pitchFamily="34" charset="0"/>
                <a:ea typeface="Open Sans Bold" pitchFamily="34" charset="-122"/>
                <a:cs typeface="Open Sans Bold" pitchFamily="34" charset="-120"/>
              </a:rPr>
              <a:t>Port Security:</a:t>
            </a:r>
            <a:pPr algn="l" marL="294640" indent="-294640">
              <a:lnSpc>
                <a:spcPct val="132000"/>
              </a:lnSpc>
              <a:buSzPct val="100000"/>
              <a:buChar char="•"/>
            </a:pPr>
            <a:r>
              <a:rPr lang="en-US" sz="1450" spc="-29" kern="0" dirty="0">
                <a:solidFill>
                  <a:srgbClr val="2B2E3C"/>
                </a:solidFill>
                <a:latin typeface="Open Sans" pitchFamily="34" charset="0"/>
                <a:ea typeface="Open Sans" pitchFamily="34" charset="-122"/>
                <a:cs typeface="Open Sans" pitchFamily="34" charset="-120"/>
              </a:rPr>
              <a:t> Configured on the switch to bind MAC addresses to specific ports and disable all unused ports. This prevents unauthorized devices from connecting to the network and limits potential attack vectors.</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1247378"/>
            <a:ext cx="10868745" cy="295275"/>
          </a:xfrm>
          <a:prstGeom prst="rect">
            <a:avLst/>
          </a:prstGeom>
          <a:noFill/>
          <a:ln/>
        </p:spPr>
        <p:txBody>
          <a:bodyPr wrap="none" lIns="0" tIns="0" rIns="0" bIns="0" rtlCol="0" anchor="t"/>
          <a:lstStyle/>
          <a:p>
            <a:pPr algn="l" indent="0" marL="0">
              <a:lnSpc>
                <a:spcPct val="104000"/>
              </a:lnSpc>
              <a:buNone/>
            </a:pPr>
            <a:r>
              <a:rPr lang="en-US" sz="1850" spc="-56" kern="0" dirty="0">
                <a:solidFill>
                  <a:srgbClr val="2C3F42"/>
                </a:solidFill>
                <a:latin typeface="Bitter Medium" pitchFamily="34" charset="0"/>
                <a:ea typeface="Bitter Medium" pitchFamily="34" charset="-122"/>
                <a:cs typeface="Bitter Medium" pitchFamily="34" charset="-120"/>
              </a:rPr>
              <a:t>Section 9</a:t>
            </a:r>
            <a:endParaRPr lang="en-US" sz="1850" dirty="0"/>
          </a:p>
        </p:txBody>
      </p:sp>
      <p:sp>
        <p:nvSpPr>
          <p:cNvPr id="3" name="Text 1"/>
          <p:cNvSpPr/>
          <p:nvPr/>
        </p:nvSpPr>
        <p:spPr>
          <a:xfrm>
            <a:off x="661475" y="1618258"/>
            <a:ext cx="10868745" cy="590649"/>
          </a:xfrm>
          <a:prstGeom prst="rect">
            <a:avLst/>
          </a:prstGeom>
          <a:noFill/>
          <a:ln/>
        </p:spPr>
        <p:txBody>
          <a:bodyPr wrap="none" lIns="0" tIns="0" rIns="0" bIns="0" rtlCol="0" anchor="t"/>
          <a:lstStyle/>
          <a:p>
            <a:pPr algn="l" indent="0" marL="0">
              <a:lnSpc>
                <a:spcPct val="104000"/>
              </a:lnSpc>
              <a:buNone/>
            </a:pPr>
            <a:r>
              <a:rPr lang="en-US" sz="3700" spc="-112" kern="0" dirty="0">
                <a:solidFill>
                  <a:srgbClr val="2C3F42"/>
                </a:solidFill>
                <a:latin typeface="Bitter Medium" pitchFamily="34" charset="0"/>
                <a:ea typeface="Bitter Medium" pitchFamily="34" charset="-122"/>
                <a:cs typeface="Bitter Medium" pitchFamily="34" charset="-120"/>
              </a:rPr>
              <a:t>Zone 7: Advanced ACLs </a:t>
            </a:r>
            <a:endParaRPr lang="en-US" sz="3700" dirty="0"/>
          </a:p>
        </p:txBody>
      </p:sp>
      <p:sp>
        <p:nvSpPr>
          <p:cNvPr id="4" name="Text 2"/>
          <p:cNvSpPr/>
          <p:nvPr/>
        </p:nvSpPr>
        <p:spPr>
          <a:xfrm>
            <a:off x="661475" y="2492375"/>
            <a:ext cx="10868745" cy="3118247"/>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b="1" spc="-30" kern="0" dirty="0">
                <a:solidFill>
                  <a:srgbClr val="2B2E3C"/>
                </a:solidFill>
                <a:latin typeface="Open Sans Bold" pitchFamily="34" charset="0"/>
                <a:ea typeface="Open Sans Bold" pitchFamily="34" charset="-122"/>
                <a:cs typeface="Open Sans Bold" pitchFamily="34" charset="-120"/>
              </a:rPr>
              <a:t>Devices:</a:t>
            </a:r>
            <a:pPr algn="l" marL="294640" indent="-294640">
              <a:lnSpc>
                <a:spcPct val="133000"/>
              </a:lnSpc>
              <a:buSzPct val="100000"/>
              <a:buChar char="•"/>
            </a:pPr>
            <a:r>
              <a:rPr lang="en-US" sz="1450" spc="-30" kern="0" dirty="0">
                <a:solidFill>
                  <a:srgbClr val="2B2E3C"/>
                </a:solidFill>
                <a:latin typeface="Open Sans" pitchFamily="34" charset="0"/>
                <a:ea typeface="Open Sans" pitchFamily="34" charset="-122"/>
                <a:cs typeface="Open Sans" pitchFamily="34" charset="-120"/>
              </a:rPr>
              <a:t> 1 Router and 1 Switch connected to 2 PCs and a DHCP Server.</a:t>
            </a:r>
            <a:endParaRPr lang="en-US" sz="1450" dirty="0"/>
          </a:p>
          <a:p>
            <a:pPr algn="l" marL="294640" indent="-294640">
              <a:lnSpc>
                <a:spcPct val="133000"/>
              </a:lnSpc>
              <a:buSzPct val="100000"/>
              <a:buChar char="•"/>
            </a:pPr>
            <a:r>
              <a:rPr lang="en-US" sz="1450" b="1" spc="-30" kern="0" dirty="0">
                <a:solidFill>
                  <a:srgbClr val="2B2E3C"/>
                </a:solidFill>
                <a:latin typeface="Open Sans Bold" pitchFamily="34" charset="0"/>
                <a:ea typeface="Open Sans Bold" pitchFamily="34" charset="-122"/>
                <a:cs typeface="Open Sans Bold" pitchFamily="34" charset="-120"/>
              </a:rPr>
              <a:t>Physical Security:</a:t>
            </a:r>
            <a:pPr algn="l" marL="294640" indent="-294640">
              <a:lnSpc>
                <a:spcPct val="133000"/>
              </a:lnSpc>
              <a:buSzPct val="100000"/>
              <a:buChar char="•"/>
            </a:pPr>
            <a:r>
              <a:rPr lang="en-US" sz="1450" spc="-30" kern="0" dirty="0">
                <a:solidFill>
                  <a:srgbClr val="2B2E3C"/>
                </a:solidFill>
                <a:latin typeface="Open Sans" pitchFamily="34" charset="0"/>
                <a:ea typeface="Open Sans" pitchFamily="34" charset="-122"/>
                <a:cs typeface="Open Sans" pitchFamily="34" charset="-120"/>
              </a:rPr>
              <a:t> Webcams, trip sensors, alarms, and motion sensors are deployed for comprehensive physical intrusion detection.</a:t>
            </a:r>
            <a:endParaRPr lang="en-US" sz="1450" dirty="0"/>
          </a:p>
          <a:p>
            <a:pPr algn="l" marL="294640" indent="-294640">
              <a:lnSpc>
                <a:spcPct val="133000"/>
              </a:lnSpc>
              <a:buSzPct val="100000"/>
              <a:buChar char="•"/>
            </a:pPr>
            <a:r>
              <a:rPr lang="en-US" sz="1450" b="1" spc="-30" kern="0" dirty="0">
                <a:solidFill>
                  <a:srgbClr val="2B2E3C"/>
                </a:solidFill>
                <a:latin typeface="Open Sans Bold" pitchFamily="34" charset="0"/>
                <a:ea typeface="Open Sans Bold" pitchFamily="34" charset="-122"/>
                <a:cs typeface="Open Sans Bold" pitchFamily="34" charset="-120"/>
              </a:rPr>
              <a:t>Extended ACLs:</a:t>
            </a:r>
            <a:pPr algn="l" marL="294640" indent="-294640">
              <a:lnSpc>
                <a:spcPct val="133000"/>
              </a:lnSpc>
              <a:buSzPct val="100000"/>
              <a:buChar char="•"/>
            </a:pPr>
            <a:r>
              <a:rPr lang="en-US" sz="1450" spc="-30" kern="0" dirty="0">
                <a:solidFill>
                  <a:srgbClr val="2B2E3C"/>
                </a:solidFill>
                <a:latin typeface="Open Sans" pitchFamily="34" charset="0"/>
                <a:ea typeface="Open Sans" pitchFamily="34" charset="-122"/>
                <a:cs typeface="Open Sans" pitchFamily="34" charset="-120"/>
              </a:rPr>
              <a:t> Sophisticated extended ACLs are configured to deny specific types of traffic, bolstering network defense:</a:t>
            </a:r>
            <a:endParaRPr lang="en-US" sz="1450" dirty="0"/>
          </a:p>
          <a:p>
            <a:pPr algn="l" lvl="1" marL="589280" indent="-294640">
              <a:lnSpc>
                <a:spcPct val="133000"/>
              </a:lnSpc>
              <a:buSzPct val="100000"/>
              <a:buChar char="◦"/>
            </a:pPr>
            <a:r>
              <a:rPr lang="en-US" sz="1450" spc="-30" kern="0" dirty="0">
                <a:solidFill>
                  <a:srgbClr val="2B2E3C"/>
                </a:solidFill>
                <a:latin typeface="Open Sans" pitchFamily="34" charset="0"/>
                <a:ea typeface="Open Sans" pitchFamily="34" charset="-122"/>
                <a:cs typeface="Open Sans" pitchFamily="34" charset="-120"/>
              </a:rPr>
              <a:t>ICMP traffic is blocked to prevent network reconnaissance.</a:t>
            </a:r>
            <a:endParaRPr lang="en-US" sz="1450" dirty="0"/>
          </a:p>
          <a:p>
            <a:pPr algn="l" lvl="1" marL="589280" indent="-294640">
              <a:lnSpc>
                <a:spcPct val="133000"/>
              </a:lnSpc>
              <a:buSzPct val="100000"/>
              <a:buChar char="◦"/>
            </a:pPr>
            <a:r>
              <a:rPr lang="en-US" sz="1450" spc="-30" kern="0" dirty="0">
                <a:solidFill>
                  <a:srgbClr val="2B2E3C"/>
                </a:solidFill>
                <a:latin typeface="Open Sans" pitchFamily="34" charset="0"/>
                <a:ea typeface="Open Sans" pitchFamily="34" charset="-122"/>
                <a:cs typeface="Open Sans" pitchFamily="34" charset="-120"/>
              </a:rPr>
              <a:t>HTTP (port 80) and HTTPS (port 443) traffic are blocked, restricting web access for specific devices or zones as per policy.</a:t>
            </a:r>
            <a:endParaRPr lang="en-US" sz="1450" dirty="0"/>
          </a:p>
          <a:p>
            <a:pPr algn="l" marL="294640" indent="-294640">
              <a:lnSpc>
                <a:spcPct val="133000"/>
              </a:lnSpc>
              <a:buSzPct val="100000"/>
              <a:buChar char="•"/>
            </a:pPr>
            <a:r>
              <a:rPr lang="en-US" sz="1450" b="1" spc="-30" kern="0" dirty="0">
                <a:solidFill>
                  <a:srgbClr val="2B2E3C"/>
                </a:solidFill>
                <a:latin typeface="Open Sans Bold" pitchFamily="34" charset="0"/>
                <a:ea typeface="Open Sans Bold" pitchFamily="34" charset="-122"/>
                <a:cs typeface="Open Sans Bold" pitchFamily="34" charset="-120"/>
              </a:rPr>
              <a:t>VTY Line Security:</a:t>
            </a:r>
            <a:pPr algn="l" marL="294640" indent="-294640">
              <a:lnSpc>
                <a:spcPct val="133000"/>
              </a:lnSpc>
              <a:buSzPct val="100000"/>
              <a:buChar char="•"/>
            </a:pPr>
            <a:r>
              <a:rPr lang="en-US" sz="1450" spc="-30" kern="0" dirty="0">
                <a:solidFill>
                  <a:srgbClr val="2B2E3C"/>
                </a:solidFill>
                <a:latin typeface="Open Sans" pitchFamily="34" charset="0"/>
                <a:ea typeface="Open Sans" pitchFamily="34" charset="-122"/>
                <a:cs typeface="Open Sans" pitchFamily="34" charset="-120"/>
              </a:rPr>
              <a:t> An ACL is applied to VTY lines, ensuring that SSH access is permitted exclusively from authorized management devices..</a:t>
            </a:r>
            <a:endParaRPr lang="en-US" sz="1450" dirty="0"/>
          </a:p>
          <a:p>
            <a:pPr algn="l" marL="294640" indent="-294640">
              <a:lnSpc>
                <a:spcPct val="133000"/>
              </a:lnSpc>
              <a:buSzPct val="100000"/>
              <a:buChar char="•"/>
            </a:pPr>
            <a:r>
              <a:rPr lang="en-US" sz="1450" b="1" spc="-30" kern="0" dirty="0">
                <a:solidFill>
                  <a:srgbClr val="2B2E3C"/>
                </a:solidFill>
                <a:latin typeface="Open Sans Bold" pitchFamily="34" charset="0"/>
                <a:ea typeface="Open Sans Bold" pitchFamily="34" charset="-122"/>
                <a:cs typeface="Open Sans Bold" pitchFamily="34" charset="-120"/>
              </a:rPr>
              <a:t>Port Security:</a:t>
            </a:r>
            <a:pPr algn="l" marL="294640" indent="-294640">
              <a:lnSpc>
                <a:spcPct val="133000"/>
              </a:lnSpc>
              <a:buSzPct val="100000"/>
              <a:buChar char="•"/>
            </a:pPr>
            <a:r>
              <a:rPr lang="en-US" sz="1450" spc="-30" kern="0" dirty="0">
                <a:solidFill>
                  <a:srgbClr val="2B2E3C"/>
                </a:solidFill>
                <a:latin typeface="Open Sans" pitchFamily="34" charset="0"/>
                <a:ea typeface="Open Sans" pitchFamily="34" charset="-122"/>
                <a:cs typeface="Open Sans" pitchFamily="34" charset="-120"/>
              </a:rPr>
              <a:t> Implemented on the switch, with all unused ports administratively disabled to prevent unauthorized access.</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1371104"/>
            <a:ext cx="10868745" cy="590649"/>
          </a:xfrm>
          <a:prstGeom prst="rect">
            <a:avLst/>
          </a:prstGeom>
          <a:noFill/>
          <a:ln/>
        </p:spPr>
        <p:txBody>
          <a:bodyPr wrap="none" lIns="0" tIns="0" rIns="0" bIns="0" rtlCol="0" anchor="t"/>
          <a:lstStyle/>
          <a:p>
            <a:pPr algn="l" indent="0" marL="0">
              <a:lnSpc>
                <a:spcPct val="104000"/>
              </a:lnSpc>
              <a:buNone/>
            </a:pPr>
            <a:r>
              <a:rPr lang="en-US" sz="3700" spc="-112" kern="0" dirty="0">
                <a:solidFill>
                  <a:srgbClr val="2C3F42"/>
                </a:solidFill>
                <a:latin typeface="Bitter Medium" pitchFamily="34" charset="0"/>
                <a:ea typeface="Bitter Medium" pitchFamily="34" charset="-122"/>
                <a:cs typeface="Bitter Medium" pitchFamily="34" charset="-120"/>
              </a:rPr>
              <a:t>Conclusion: A Multi-Layered Security Architecture</a:t>
            </a:r>
            <a:endParaRPr lang="en-US" sz="3700" dirty="0"/>
          </a:p>
        </p:txBody>
      </p:sp>
      <p:sp>
        <p:nvSpPr>
          <p:cNvPr id="3" name="Text 1"/>
          <p:cNvSpPr/>
          <p:nvPr/>
        </p:nvSpPr>
        <p:spPr>
          <a:xfrm>
            <a:off x="661475" y="2339777"/>
            <a:ext cx="10868745" cy="3147020"/>
          </a:xfrm>
          <a:prstGeom prst="rect">
            <a:avLst/>
          </a:prstGeom>
          <a:noFill/>
          <a:ln/>
        </p:spPr>
        <p:txBody>
          <a:bodyPr wrap="square" lIns="0" tIns="0" rIns="0" bIns="0" rtlCol="0" anchor="t">
            <a:normAutofit/>
          </a:bodyPr>
          <a:lstStyle/>
          <a:p>
            <a:pPr algn="l" indent="0" marL="0">
              <a:lnSpc>
                <a:spcPct val="133000"/>
              </a:lnSpc>
              <a:spcAft>
                <a:spcPts val="1650"/>
              </a:spcAft>
              <a:buNone/>
            </a:pPr>
            <a:r>
              <a:rPr lang="en-US" sz="1450" spc="-30" kern="0" dirty="0">
                <a:solidFill>
                  <a:srgbClr val="2B2E3C"/>
                </a:solidFill>
                <a:latin typeface="Open Sans" pitchFamily="34" charset="0"/>
                <a:ea typeface="Open Sans" pitchFamily="34" charset="-122"/>
                <a:cs typeface="Open Sans" pitchFamily="34" charset="-120"/>
              </a:rPr>
              <a:t>This project successfully designed and implemented a secure network infrastructure within Cisco Packet Tracer, demonstrating a robust, multi-layered approach to network defense. By segmenting the network into seven distinct zones, we achieved enhanced control and reduced the attack surface.</a:t>
            </a:r>
            <a:endParaRPr lang="en-US" sz="1450" dirty="0"/>
          </a:p>
          <a:p>
            <a:pPr algn="l" indent="0" marL="0">
              <a:lnSpc>
                <a:spcPct val="133000"/>
              </a:lnSpc>
              <a:spcAft>
                <a:spcPts val="1650"/>
              </a:spcAft>
              <a:buNone/>
            </a:pPr>
            <a:r>
              <a:rPr lang="en-US" sz="1450" spc="-30" kern="0" dirty="0">
                <a:solidFill>
                  <a:srgbClr val="2B2E3C"/>
                </a:solidFill>
                <a:latin typeface="Open Sans" pitchFamily="34" charset="0"/>
                <a:ea typeface="Open Sans" pitchFamily="34" charset="-122"/>
                <a:cs typeface="Open Sans" pitchFamily="34" charset="-120"/>
              </a:rPr>
              <a:t>The seamless connectivity across zones is maintained through </a:t>
            </a:r>
            <a:pPr algn="l" indent="0" marL="0">
              <a:lnSpc>
                <a:spcPct val="133000"/>
              </a:lnSpc>
              <a:spcAft>
                <a:spcPts val="1650"/>
              </a:spcAft>
              <a:buNone/>
            </a:pPr>
            <a:r>
              <a:rPr lang="en-US" sz="1450" spc="-30" kern="0" dirty="0">
                <a:solidFill>
                  <a:srgbClr val="D2600F"/>
                </a:solidFill>
                <a:latin typeface="Open Sans" pitchFamily="34" charset="0"/>
                <a:ea typeface="Open Sans" pitchFamily="34" charset="-122"/>
                <a:cs typeface="Open Sans" pitchFamily="34" charset="-120"/>
              </a:rPr>
              <a:t>OSPF routing</a:t>
            </a:r>
            <a:pPr algn="l" indent="0" marL="0">
              <a:lnSpc>
                <a:spcPct val="133000"/>
              </a:lnSpc>
              <a:spcAft>
                <a:spcPts val="1650"/>
              </a:spcAft>
              <a:buNone/>
            </a:pPr>
            <a:r>
              <a:rPr lang="en-US" sz="1450" spc="-30" kern="0" dirty="0">
                <a:solidFill>
                  <a:srgbClr val="2B2E3C"/>
                </a:solidFill>
                <a:latin typeface="Open Sans" pitchFamily="34" charset="0"/>
                <a:ea typeface="Open Sans" pitchFamily="34" charset="-122"/>
                <a:cs typeface="Open Sans" pitchFamily="34" charset="-120"/>
              </a:rPr>
              <a:t>, ensuring efficient and resilient data flow. Crucially, each zone integrates both </a:t>
            </a:r>
            <a:pPr algn="l" indent="0" marL="0">
              <a:lnSpc>
                <a:spcPct val="133000"/>
              </a:lnSpc>
              <a:spcAft>
                <a:spcPts val="1650"/>
              </a:spcAft>
              <a:buNone/>
            </a:pPr>
            <a:r>
              <a:rPr lang="en-US" sz="1450" spc="-30" kern="0" dirty="0">
                <a:solidFill>
                  <a:srgbClr val="D2600F"/>
                </a:solidFill>
                <a:latin typeface="Open Sans" pitchFamily="34" charset="0"/>
                <a:ea typeface="Open Sans" pitchFamily="34" charset="-122"/>
                <a:cs typeface="Open Sans" pitchFamily="34" charset="-120"/>
              </a:rPr>
              <a:t>logical security</a:t>
            </a:r>
            <a:pPr algn="l" indent="0" marL="0">
              <a:lnSpc>
                <a:spcPct val="133000"/>
              </a:lnSpc>
              <a:spcAft>
                <a:spcPts val="1650"/>
              </a:spcAft>
              <a:buNone/>
            </a:pPr>
            <a:r>
              <a:rPr lang="en-US" sz="1450" spc="-30" kern="0" dirty="0">
                <a:solidFill>
                  <a:srgbClr val="2B2E3C"/>
                </a:solidFill>
                <a:latin typeface="Open Sans" pitchFamily="34" charset="0"/>
                <a:ea typeface="Open Sans" pitchFamily="34" charset="-122"/>
                <a:cs typeface="Open Sans" pitchFamily="34" charset="-120"/>
              </a:rPr>
              <a:t> measures—such as ACLs, SSH for secure management, AAA for authentication and authorization, and Zone-Based Firewalls (ZBF)—and </a:t>
            </a:r>
            <a:pPr algn="l" indent="0" marL="0">
              <a:lnSpc>
                <a:spcPct val="133000"/>
              </a:lnSpc>
              <a:spcAft>
                <a:spcPts val="1650"/>
              </a:spcAft>
              <a:buNone/>
            </a:pPr>
            <a:r>
              <a:rPr lang="en-US" sz="1450" spc="-30" kern="0" dirty="0">
                <a:solidFill>
                  <a:srgbClr val="D2600F"/>
                </a:solidFill>
                <a:latin typeface="Open Sans" pitchFamily="34" charset="0"/>
                <a:ea typeface="Open Sans" pitchFamily="34" charset="-122"/>
                <a:cs typeface="Open Sans" pitchFamily="34" charset="-120"/>
              </a:rPr>
              <a:t>physical security</a:t>
            </a:r>
            <a:pPr algn="l" indent="0" marL="0">
              <a:lnSpc>
                <a:spcPct val="133000"/>
              </a:lnSpc>
              <a:spcAft>
                <a:spcPts val="1650"/>
              </a:spcAft>
              <a:buNone/>
            </a:pPr>
            <a:r>
              <a:rPr lang="en-US" sz="1450" spc="-30" kern="0" dirty="0">
                <a:solidFill>
                  <a:srgbClr val="2B2E3C"/>
                </a:solidFill>
                <a:latin typeface="Open Sans" pitchFamily="34" charset="0"/>
                <a:ea typeface="Open Sans" pitchFamily="34" charset="-122"/>
                <a:cs typeface="Open Sans" pitchFamily="34" charset="-120"/>
              </a:rPr>
              <a:t> components, including webcams, alarms, trip sensors, motion sensors, and the sealing of unused server slots.</a:t>
            </a:r>
            <a:endParaRPr lang="en-US" sz="1450" dirty="0"/>
          </a:p>
          <a:p>
            <a:pPr algn="l" indent="0" marL="0">
              <a:lnSpc>
                <a:spcPct val="133000"/>
              </a:lnSpc>
              <a:buNone/>
            </a:pPr>
            <a:r>
              <a:rPr lang="en-US" sz="1450" spc="-30" kern="0" dirty="0">
                <a:solidFill>
                  <a:srgbClr val="2B2E3C"/>
                </a:solidFill>
                <a:latin typeface="Open Sans" pitchFamily="34" charset="0"/>
                <a:ea typeface="Open Sans" pitchFamily="34" charset="-122"/>
                <a:cs typeface="Open Sans" pitchFamily="34" charset="-120"/>
              </a:rPr>
              <a:t>This comprehensive design adheres to best practices, effectively protecting critical network resources and enforcing stringent access controls to mitigate a wide array of cyber and physical threats.</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2026-09-27T16:40:32Z</dcterms:created>
  <dcterms:modified xsi:type="dcterms:W3CDTF">2026-09-27T16:40:32Z</dcterms:modified>
</cp:coreProperties>
</file>